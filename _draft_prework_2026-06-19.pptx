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20260622 期 · 涵蓋 2026-06-15 ~ 2026-06-19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estimated (yfinance blocked) · Mon-Thu close (4 trading days)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ARKK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+7.3pp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AI反彈王 reversal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-7.9pp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能源大崩殺 reversal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TLT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-4.4pp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Warsh債市震 reversal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最強反彈：ARKK +7.3 pp（本週 +1.50% / 上週 -5.80%）　|　最猛下殺：UCO -12.0 pp（本週 -8.50% / 上週 +3.50%）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【A】油價崩潰 × 霍姆茲重啟：能源ETF快速反向訊號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核心：USO -5.8%/週 · XLE -4.2% · BNO -5.5% · UCO -8.5% · 霍姆茲6月流量5.1M bpd vs 5月2.9M　·　相關 ETF：USO / XLE / XOP / BNO / UCO / IEO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driver：美方介入信號使霍姆茲供應恢復，Brent跌破$80；Goldman下調2026油價預測至$80/桶　·　對台灣機構意義：能源進口成本下降利多台灣製造業；法人能源相關倉位需立即確認方向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【B】Warsh鷹派震撼：1994以來最差Fed Day，債市/REIT重定價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核心：TLT -3.2%/週(reversal-4.4pp) · XLRE -3.0% · XLU -2.5% · 9/18委員預測年內升息　·　相關 ETF：TLT / IEF / LQD / XLRE / XLU / AGG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driver：新主席Warsh首次FOMC鷹派超預期，2026升息機率升至50%，Dow -500pts 6/16　·　對台灣機構意義：法人債券業務部核心風險：長債duration確認，TLT/XLRE停損點待評估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【C】低油價受益輪動：消費/工業/金融反彈訊號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核心：XLY +2.1%(reversal+5.9pp) · XLI +1.2%(+3.8pp) · XLF +1.8%(+3.3pp) · KRE +0.5%(+3.4pp)　·　相關 ETF：XLY / XLI / XLF / KRE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driver：油跌降企業與消費成本；升息斜率陡化利好銀行利差；工業毛利修復　·　對台灣機構意義：美消費/工業輪動有利台灣出口；XLF/KRE可作升息環境防禦性觀察標的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【D】ARKK/ARKQ大反彈：投機科技+7pp逆轉，是反彈還是假訊號？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核心：ARKK reversal+7.3pp(週+1.5%,上週-5.8%) · ARKQ+6.0pp · UBOT+5.3pp　·　相關 ETF：ARKK / ARKQ / UBOT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driver：Broadcom+AMD上週大跌後技術性超賣反彈，非基本面驅動　·　對台灣機構意義：高Beta科技ETF短線信號，需NLM第二輪驗證後再決定議題權重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【E】黃金高原：$4,316，升息預期 vs 伊朗地緣溢價拔河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-1.2%/週 · GDX -2.8% · 金價範圍$4,288-$4,473 · UBS Q2目標$5,200　·　相關 ETF：GLD / GDX / SLV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driver：Warsh鷹派壓抑金價，但伊朗軍事衝突地緣溢價支撐底部　·　對台灣機構意義：需關注$4,200-$4,288支撐帶；GDX礦商與GLD金條倉位分開評估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【F】半導體輪動：SMH/SOXX技術反彈，AI晶片指引鬆動後再評價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核心：SMH reversal+2.7pp · SOXX+2.6pp · Broadcom Q3 AI $16B vs預期$17.2B · TSMC Q1+35%YoY　·　相關 ETF：SMH / SOXX / XLK / AIQ / IGV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driver：Broadcom指引miss後超賣反彈；TSMC+35%YoY支撐長線；AMD本週回穩　·　對台灣機構意義：台股最高權重族群，SMH/SOXX週動向直接映射台積電+聯發科法人部位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【G】新興市場分歧：日本/中國反彈 vs 廣泛EM下行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核心：EWJ reversal+3.2pp · FXI+2.3pp · EEM -0.5%/週 · 美元UUP+1.5%　·　相關 ETF：EWJ / FXI / INDA / EEM / VGK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driver：日圓貶值利好日本出口；中國財政刺激預期；美元強勢壓制廣泛EM　·　對台灣機構意義：EM配置中日本&gt;大盤EEM；法人EM債ETF需區分區域敞口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【H】天然氣+商品全線崩跌：能源通脹降溫，固收信用利差觀察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核心：UNG -3.5%(reversal-5.0pp) · DBC -2.8% · ICLN -1.5% · AMLP -1.5%　·　相關 ETF：UNG / DBC / ICLN / AMLP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driver：油氣全面崩跌拖累商品ETF，能源轉型ICLN因板塊情緒下跌　·　對台灣機構意義：商品通脹降溫利好固定收益，需注意能源高收益信用利差是否擴大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能源族群週反轉矩陣（霍姆茲重啟週）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Oil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-5.8</a:t>
                      </a:r>
                    </a:p>
                  </a:txBody>
                  <a:tcPr>
                    <a:solidFill>
                      <a:srgbClr val="F2B7B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-15.8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原油現貨直接追蹤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Energy Select SPDR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-4.2</a:t>
                      </a:r>
                    </a:p>
                  </a:txBody>
                  <a:tcPr>
                    <a:solidFill>
                      <a:srgbClr val="F5C4C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2.0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-8.3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美能源股整體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Oil &amp; Gas E&amp;P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-4.9</a:t>
                      </a:r>
                    </a:p>
                  </a:txBody>
                  <a:tcPr>
                    <a:solidFill>
                      <a:srgbClr val="F4BEB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-12.5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探採股Beta最高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Brent Oil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-5.5</a:t>
                      </a:r>
                    </a:p>
                  </a:txBody>
                  <a:tcPr>
                    <a:solidFill>
                      <a:srgbClr val="F2B9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2.0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-18.5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Brent原油期貨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ProShares 2x Ultra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-22.5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2倍槓桿做多原油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UNG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Natural Gas Fund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1.5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-18.5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天然氣期貨追蹤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Gold Miners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</a:t>
                      </a:r>
                    </a:p>
                  </a:txBody>
                  <a:tcPr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8.5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黃金礦商(間接)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</a:t>
                      </a:r>
                    </a:p>
                  </a:txBody>
                  <a:tcPr>
                    <a:solidFill>
                      <a:srgbClr val="FA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-0.8</a:t>
                      </a:r>
                    </a:p>
                  </a:txBody>
                  <a:tcPr>
                    <a:solidFill>
                      <a:srgbClr val="FCDF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MLP中游管道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Warsh衝擊 — 利率敏感族群矩陣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20Y+ Treasury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-3.2</a:t>
                      </a:r>
                    </a:p>
                  </a:txBody>
                  <a:tcPr>
                    <a:solidFill>
                      <a:srgbClr val="F7CC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長債基準、久期最長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IEF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7-10Y Treasury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-2.1</a:t>
                      </a:r>
                    </a:p>
                  </a:txBody>
                  <a:tcPr>
                    <a:solidFill>
                      <a:srgbClr val="F9D5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1.5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-5.8</a:t>
                      </a:r>
                    </a:p>
                  </a:txBody>
                  <a:tcPr>
                    <a:solidFill>
                      <a:srgbClr val="F2B7B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中期利率敏感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LQD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IG Corp Bond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-2.0</a:t>
                      </a:r>
                    </a:p>
                  </a:txBody>
                  <a:tcPr>
                    <a:solidFill>
                      <a:srgbClr val="F9D5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-5.2</a:t>
                      </a:r>
                    </a:p>
                  </a:txBody>
                  <a:tcPr>
                    <a:solidFill>
                      <a:srgbClr val="F3BCB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投資等級信用債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XLRE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Real Estate Select SPDR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-3.0</a:t>
                      </a:r>
                    </a:p>
                  </a:txBody>
                  <a:tcPr>
                    <a:solidFill>
                      <a:srgbClr val="F7CDC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-4.5</a:t>
                      </a:r>
                    </a:p>
                  </a:txBody>
                  <a:tcPr>
                    <a:solidFill>
                      <a:srgbClr val="F4C1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REIT、升息最敏感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Utilities Select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</a:t>
                      </a:r>
                    </a:p>
                  </a:txBody>
                  <a:tcPr>
                    <a:solidFill>
                      <a:srgbClr val="F8D1D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-1.2</a:t>
                      </a:r>
                    </a:p>
                  </a:txBody>
                  <a:tcPr>
                    <a:solidFill>
                      <a:srgbClr val="FBDC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公用事業、利率代理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KRE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S&amp;P Regional Banks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0.5</a:t>
                      </a:r>
                    </a:p>
                  </a:txBody>
                  <a:tcPr>
                    <a:solidFill>
                      <a:srgbClr val="E4F2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-2.9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3.8</a:t>
                      </a:r>
                    </a:p>
                  </a:txBody>
                  <a:tcPr>
                    <a:solidFill>
                      <a:srgbClr val="CADFC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地區銀行、升息受益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Core US Agg Bond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</a:t>
                      </a:r>
                    </a:p>
                  </a:txBody>
                  <a:tcPr>
                    <a:solidFill>
                      <a:srgbClr val="FAD7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-4.5</a:t>
                      </a:r>
                    </a:p>
                  </a:txBody>
                  <a:tcPr>
                    <a:solidFill>
                      <a:srgbClr val="F4C1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整體債市基準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EMB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EM Bond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</a:t>
                      </a:r>
                    </a:p>
                  </a:txBody>
                  <a:tcPr>
                    <a:solidFill>
                      <a:srgbClr val="FAD9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0.5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-3.8</a:t>
                      </a:r>
                    </a:p>
                  </a:txBody>
                  <a:tcPr>
                    <a:solidFill>
                      <a:srgbClr val="F6C7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新興市場美元債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Fed主席Warsh首次FOMC(6/16-17)：維持3.50-3.75%但9/18委員預測年內升息，1994以來最差Fed Day，Dow -500pts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霍姆茲海峽重啟：6月流量5.1M bpd vs 5月2.9M (+76%)，Brent跌破$80，Goldman調降油價預測$5/桶至$80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黃金$4,316附近：Warsh鷹派壓抑但伊朗地緣溢價支撐底部；UBS目標Q2$5,200/Q3$5,400/Q4$5,900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半導體：Broadcom Q3 AI指引$16B(miss $17.2B)；AMD技術反彈+4%；TSMC Q1+35%YoY確認長線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 500近6,300點週跌~1.2%；FOMC後2026升息機率升至50%；殖利率陡升壓制高估值科技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美元UUP+1.5%/週：Warsh鷹派推升美元，壓制廣泛EM+黃金，資金回流美國趨勢強化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20260622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議題組合確認：1主(A或B) + 2補充(推薦C+F 或 C+E) 三議題組合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重抓yfinance含週五close（4→5 trading days完整週，本次被網路封鎖）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 (UWS 12章節完整框架)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12規則審查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 三路並行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pre-screen（法人機構讀者視角）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2026-06-19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