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1B4F5A"/>
                </a:solidFill>
                <a:latin typeface="Calibri"/>
                <a:ea typeface="微軟正黑體"/>
              </a:rPr>
              <a:t>Broadcom（AVGO）財報分析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1A1A1A"/>
                </a:solidFill>
                <a:latin typeface="Calibri"/>
                <a:ea typeface="微軟正黑體"/>
              </a:rPr>
              <a:t>FY2025 全年 · Q1 FY2026 最新季報（截至 2026/02/01）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1064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NASDAQ: AVGO · 半導體 + 基礎架構軟體 · AI 客製化加速器（XPU）與 AI 網通領導者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0927" y="3520440"/>
            <a:ext cx="3200400" cy="2057400"/>
          </a:xfrm>
          <a:prstGeom prst="round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0927" y="3721608"/>
            <a:ext cx="32004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FY2025 營收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0927" y="4178808"/>
            <a:ext cx="32004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  <a:ea typeface="微軟正黑體"/>
              </a:rPr>
              <a:t>$62.9B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0927" y="5056632"/>
            <a:ext cx="32004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+22% YoY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647" y="3520440"/>
            <a:ext cx="3200400" cy="2057400"/>
          </a:xfrm>
          <a:prstGeom prst="round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647" y="3721608"/>
            <a:ext cx="32004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FY2025 AI 營收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647" y="4178808"/>
            <a:ext cx="32004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  <a:ea typeface="微軟正黑體"/>
              </a:rPr>
              <a:t>$20B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5647" y="5056632"/>
            <a:ext cx="32004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Q1'26 季增至 $8.4B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0367" y="3520440"/>
            <a:ext cx="3200400" cy="2057400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0367" y="3721608"/>
            <a:ext cx="32004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FY2025 自由現金流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0367" y="4178808"/>
            <a:ext cx="32004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  <a:ea typeface="微軟正黑體"/>
              </a:rPr>
              <a:t>$26.9B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0367" y="5056632"/>
            <a:ext cx="32004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FCF margin 約 43%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767676"/>
                </a:solidFill>
                <a:latin typeface="Calibri"/>
                <a:ea typeface="微軟正黑體"/>
              </a:rPr>
              <a:t>資料來源：Broadcom 官方新聞稿 / SEC 8-K（FY2025 Q4 &amp; Q1 FY2026）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國泰證券法人債券業務部 · 法人業務二處 · AVGO 財報分析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3657600" cy="24688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400" b="1">
                <a:solidFill>
                  <a:srgbClr val="FFFFFF"/>
                </a:solidFill>
                <a:latin typeface="Calibri"/>
                <a:ea typeface="微軟正黑體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754880"/>
            <a:ext cx="1371600" cy="914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0"/>
            <a:ext cx="640080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  <a:ea typeface="微軟正黑體"/>
              </a:rPr>
              <a:t>營運總覽 · Financial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  <a:ea typeface="微軟正黑體"/>
              </a:rPr>
              <a:t>國泰證券法人債券業務部 · 法人業務二處 · AVGO 財報分析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Q1 FY2026 重點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截至 2026/02/01、2026/03/04 公布 · 全面優於財測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670048" cy="1965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2670048" cy="109728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2395728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4A4A4A"/>
                </a:solidFill>
                <a:latin typeface="Calibri"/>
                <a:ea typeface="微軟正黑體"/>
              </a:rPr>
              <a:t>合併營收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2395728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B4F5A"/>
                </a:solidFill>
                <a:latin typeface="Calibri"/>
                <a:ea typeface="微軟正黑體"/>
              </a:rPr>
              <a:t>$19.31B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395728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5803D"/>
                </a:solidFill>
                <a:latin typeface="Calibri"/>
                <a:ea typeface="微軟正黑體"/>
              </a:rPr>
              <a:t>+29% YoY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00200"/>
            <a:ext cx="2670048" cy="1965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600200"/>
            <a:ext cx="2670048" cy="109728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874520"/>
            <a:ext cx="2395728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4A4A4A"/>
                </a:solidFill>
                <a:latin typeface="Calibri"/>
                <a:ea typeface="微軟正黑體"/>
              </a:rPr>
              <a:t>AI 半導體營收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31720"/>
            <a:ext cx="2395728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B4F5A"/>
                </a:solidFill>
                <a:latin typeface="Calibri"/>
                <a:ea typeface="微軟正黑體"/>
              </a:rPr>
              <a:t>$8.4B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017520"/>
            <a:ext cx="2395728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5803D"/>
                </a:solidFill>
                <a:latin typeface="Calibri"/>
                <a:ea typeface="微軟正黑體"/>
              </a:rPr>
              <a:t>+106% YoY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00200"/>
            <a:ext cx="2670048" cy="1965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00200"/>
            <a:ext cx="2670048" cy="109728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874520"/>
            <a:ext cx="2395728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4A4A4A"/>
                </a:solidFill>
                <a:latin typeface="Calibri"/>
                <a:ea typeface="微軟正黑體"/>
              </a:rPr>
              <a:t>半導體營收（紀錄）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31720"/>
            <a:ext cx="2395728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B4F5A"/>
                </a:solidFill>
                <a:latin typeface="Calibri"/>
                <a:ea typeface="微軟正黑體"/>
              </a:rPr>
              <a:t>$12.5B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017520"/>
            <a:ext cx="2395728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5803D"/>
                </a:solidFill>
                <a:latin typeface="Calibri"/>
                <a:ea typeface="微軟正黑體"/>
              </a:rPr>
              <a:t>+52% YoY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600200"/>
            <a:ext cx="2670048" cy="1965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600200"/>
            <a:ext cx="2670048" cy="109728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1874520"/>
            <a:ext cx="2395728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4A4A4A"/>
                </a:solidFill>
                <a:latin typeface="Calibri"/>
                <a:ea typeface="微軟正黑體"/>
              </a:rPr>
              <a:t>Non-GAAP 淨利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331720"/>
            <a:ext cx="2395728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B4F5A"/>
                </a:solidFill>
                <a:latin typeface="Calibri"/>
                <a:ea typeface="微軟正黑體"/>
              </a:rPr>
              <a:t>$10.19B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017520"/>
            <a:ext cx="2395728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5803D"/>
                </a:solidFill>
                <a:latin typeface="Calibri"/>
                <a:ea typeface="微軟正黑體"/>
              </a:rPr>
              <a:t>EPS $2.05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40480"/>
            <a:ext cx="2670048" cy="1965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840480"/>
            <a:ext cx="2670048" cy="109728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114800"/>
            <a:ext cx="2395728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4A4A4A"/>
                </a:solidFill>
                <a:latin typeface="Calibri"/>
                <a:ea typeface="微軟正黑體"/>
              </a:rPr>
              <a:t>營業利益率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572000"/>
            <a:ext cx="2395728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B4F5A"/>
                </a:solidFill>
                <a:latin typeface="Calibri"/>
                <a:ea typeface="微軟正黑體"/>
              </a:rPr>
              <a:t>66.4%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257800"/>
            <a:ext cx="2395728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5803D"/>
                </a:solidFill>
                <a:latin typeface="Calibri"/>
                <a:ea typeface="微軟正黑體"/>
              </a:rPr>
              <a:t>+50 bps YoY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3840480"/>
            <a:ext cx="2670048" cy="1965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83280" y="3840480"/>
            <a:ext cx="2670048" cy="109728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4114800"/>
            <a:ext cx="2395728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4A4A4A"/>
                </a:solidFill>
                <a:latin typeface="Calibri"/>
                <a:ea typeface="微軟正黑體"/>
              </a:rPr>
              <a:t>Adj. EBITDA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572000"/>
            <a:ext cx="2395728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B4F5A"/>
                </a:solidFill>
                <a:latin typeface="Calibri"/>
                <a:ea typeface="微軟正黑體"/>
              </a:rPr>
              <a:t>$13.1B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5257800"/>
            <a:ext cx="2395728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5803D"/>
                </a:solidFill>
                <a:latin typeface="Calibri"/>
                <a:ea typeface="微軟正黑體"/>
              </a:rPr>
              <a:t>佔營收 68%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840480"/>
            <a:ext cx="2670048" cy="1965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3840480"/>
            <a:ext cx="2670048" cy="109728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114800"/>
            <a:ext cx="2395728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4A4A4A"/>
                </a:solidFill>
                <a:latin typeface="Calibri"/>
                <a:ea typeface="微軟正黑體"/>
              </a:rPr>
              <a:t>自由現金流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572000"/>
            <a:ext cx="2395728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B4F5A"/>
                </a:solidFill>
                <a:latin typeface="Calibri"/>
                <a:ea typeface="微軟正黑體"/>
              </a:rPr>
              <a:t>$8.01B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257800"/>
            <a:ext cx="2395728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5803D"/>
                </a:solidFill>
                <a:latin typeface="Calibri"/>
                <a:ea typeface="微軟正黑體"/>
              </a:rPr>
              <a:t>佔營收 41%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60" y="3840480"/>
            <a:ext cx="2670048" cy="1965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52560" y="3840480"/>
            <a:ext cx="2670048" cy="109728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20" y="4114800"/>
            <a:ext cx="2395728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4A4A4A"/>
                </a:solidFill>
                <a:latin typeface="Calibri"/>
                <a:ea typeface="微軟正黑體"/>
              </a:rPr>
              <a:t>季配息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4572000"/>
            <a:ext cx="2395728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B4F5A"/>
                </a:solidFill>
                <a:latin typeface="Calibri"/>
                <a:ea typeface="微軟正黑體"/>
              </a:rPr>
              <a:t>$0.65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5257800"/>
            <a:ext cx="2395728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B4F5A"/>
                </a:solidFill>
                <a:latin typeface="Calibri"/>
                <a:ea typeface="微軟正黑體"/>
              </a:rPr>
              <a:t>每股 / 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B4F5A"/>
                </a:solidFill>
                <a:latin typeface="Calibri"/>
                <a:ea typeface="微軟正黑體"/>
              </a:rPr>
              <a:t>重點：AI 加速器（XPU）＋ AI 網通雙引擎，帶動半導體單季創高；軟體（VMware）穩定貢獻現金流。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國泰證券法人債券業務部 · 法人業務二處 · AVGO 財報分析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營收趨勢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近 5 季合併營收 + YoY 成長率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1051560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B4F5A"/>
                </a:solidFill>
                <a:latin typeface="Calibri"/>
                <a:ea typeface="微軟正黑體"/>
              </a:rPr>
              <a:t>FY2025 全年營收 $62.9B（+22% YoY，FY2024 $51.6B），Q1'26 單季 $19.3B 再創新高、YoY 連續加速。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國泰證券法人債券業務部 · 法人業務二處 · AVGO 財報分析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AI 營收引擎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客製化加速器（XPU）+ AI 網通（Ethernet switch）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1051560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B4F5A"/>
                </a:solidFill>
                <a:latin typeface="Calibri"/>
                <a:ea typeface="微軟正黑體"/>
              </a:rPr>
              <a:t>AI 營收佔比由 Q1'25 約 27% 拉升至 Q1'26 約 44%；管理層看 2027 年 AI 晶片營收上看 $100B+、AI backlog 約 $73B（18 個月交期）。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國泰證券法人債券業務部 · 法人業務二處 · AVGO 財報分析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業務結構與現金流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FY2025 雙引擎：半導體 + 基礎架構軟體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4937760" cy="40233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600200"/>
            <a:ext cx="5669280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B4F5A"/>
                </a:solidFill>
                <a:latin typeface="Calibri"/>
                <a:ea typeface="微軟正黑體"/>
              </a:rPr>
              <a:t>軟體（VMware 整併）提供高毛利、可預期的訂閱現金流；半導體（AI）提供高成長。GAAP 淨利由 FY2024 $5.9B 躍升至 FY2025 $23.1B。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國泰證券法人債券業務部 · 法人業務二處 · AVGO 財報分析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3657600" cy="24688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400" b="1">
                <a:solidFill>
                  <a:srgbClr val="FFFFFF"/>
                </a:solidFill>
                <a:latin typeface="Calibri"/>
                <a:ea typeface="微軟正黑體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754880"/>
            <a:ext cx="1371600" cy="914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0"/>
            <a:ext cx="640080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  <a:ea typeface="微軟正黑體"/>
              </a:rPr>
              <a:t>展望 · Outlook &amp;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  <a:ea typeface="微軟正黑體"/>
              </a:rPr>
              <a:t>國泰證券法人債券業務部 · 法人業務二處 · AVGO 財報分析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展望與投資觀點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Q2 FY2026 財測 + 中長期 AI 敘事 + 對台灣機構意義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2B7A78"/>
                </a:solidFill>
                <a:latin typeface="Calibri"/>
                <a:ea typeface="微軟正黑體"/>
              </a:rPr>
              <a:t>📈 財測與里程碑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48640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•  Q2 FY2026 營收財測約 $22.0B（+47% YoY）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•  Q2 AI 半導體營收預估約 $10.7B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•  2027 年 AI 晶片營收 line of sight 上看 $100B+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•  AI backlog 約 $73B、18 個月交期能見度高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•  毛利／營益率維持高檔（營益率 66%+）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•  強勁 FCF 支撐配息 + 去槓桿（VMware 併購債）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2B7A78"/>
                </a:solidFill>
                <a:latin typeface="Calibri"/>
                <a:ea typeface="微軟正黑體"/>
              </a:rPr>
              <a:t>🇹🇼 對台灣機構意義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21208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•  AVGO 為 TSMC 先進製程（CoWoS / N3 / N2）核心大客戶之一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•  XPU 放量 → 台系 ABF 載板、CCL、測試、散熱供應鏈受惠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•  AI 網通（Tomahawk / Jericho）利多交換器、光通訊族群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•  可作為 SMH / SOXX / AIQ 等 AI 半導體 ETF 的權重觀察錨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•  風險：客製化 ASIC 客戶集中度、軟體成長趨緩、評價偏高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國泰證券法人債券業務部 · 法人業務二處 · AVGO 財報分析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  <a:ea typeface="微軟正黑體"/>
              </a:rPr>
              <a:t>資料來源與聲明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97280" cy="73152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  <a:ea typeface="微軟正黑體"/>
              </a:rPr>
              <a:t>•  Broadcom Inc.「Q1 FY2026 Financial Results」官方新聞稿（2026/03/04）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  <a:ea typeface="微軟正黑體"/>
              </a:rPr>
              <a:t>•  Broadcom Inc.「Q4 &amp; FY2025 Financial Results」官方新聞稿（2025/12/11）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  <a:ea typeface="微軟正黑體"/>
              </a:rPr>
              <a:t>•  SEC Form 8-K 財報附件（CIK 0001730168，FY2025 / FY2026 各季）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  <a:ea typeface="微軟正黑體"/>
              </a:rPr>
              <a:t>•  全年數字部分由各季 SEC 8-K 加總推算；segment 為約略值，以官方 10-K 為準。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D5E5E8"/>
                </a:solidFill>
                <a:latin typeface="Calibri"/>
                <a:ea typeface="微軟正黑體"/>
              </a:rPr>
              <a:t>本簡報僅為財報數據彙整與分析，供內部研究與法人業務參考，不構成任何投資建議或要約。投資人應自行評估風險。</a:t>
            </a:r>
          </a:p>
          <a:p>
            <a:pPr algn="l"/>
            <a:r>
              <a:rPr sz="1200" b="0">
                <a:solidFill>
                  <a:srgbClr val="D5E5E8"/>
                </a:solidFill>
                <a:latin typeface="Calibri"/>
                <a:ea typeface="微軟正黑體"/>
              </a:rPr>
              <a:t>金額單位為美元（US$），會計期間以 Broadcom 財報年度（FY 結束於 11 月初）為準。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  <a:ea typeface="微軟正黑體"/>
              </a:rPr>
              <a:t>國泰證券法人債券業務部 · 法人業務二處 · AVGO 財報分析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