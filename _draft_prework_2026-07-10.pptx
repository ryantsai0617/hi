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1B4F5A"/>
                </a:solidFill>
                <a:latin typeface="Calibri"/>
                <a:ea typeface="微軟正黑體"/>
              </a:rPr>
              <a:t>美股 ETF 週報 — Friday topic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  <a:ea typeface="微軟正黑體"/>
              </a:rPr>
              <a:t>20260713 期 · 涵蓋 2026-07-07 ~ 2026-07-10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v0 估算數據 · yfinance 代理封鎖 · Mon-Thu close (4 trading days) · Monday 重抓含週五 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087" y="3657600"/>
            <a:ext cx="3108960" cy="201168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808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UBOT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08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+8.60%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AI 機器人 2x · 最強反彈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3657600"/>
            <a:ext cx="3108960" cy="201168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UCO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-6.40%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原油 2x · Hormuz 解除急殺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3657600"/>
            <a:ext cx="3108960" cy="201168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AIQ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+5.40%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AI 主題 ETF · 領漲大盤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2026-07-10 · 國泰證券法人債券業務部 · 法人業務二處 · Friday topic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反轉訊號 ·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2026-07-10 · 國泰證券法人債券業務部 · 法人業務二處 · Friday topic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反轉訊號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 partial vs 上週、Top 10 反彈（綠）+ Top 10 反向下殺（紅）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最強反彈：UBOT +9.8 pp（本週 +8.60% / 上週 -1.20%）　|　最猛下殺：UCO -15.6 pp（本週 -6.40% / 上週 +9.20%）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2026-07-10 · 國泰證券法人債券業務部 · 法人業務二處 · Friday topic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主議題候選 · Top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敘事最強、優先選為主議題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13868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主A｜AI 晶片超級週期再燃 — TSMC 財報前夕 + Meta 自研晶片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核心：SMH +4.80% · SOXX +4.60% · AIQ +5.40% · AMD YTD +150%　·　相關 ETF：SMH, SOXX, AIQ, BOTZ, IRBO, ARKQ, THNQ, QQQ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driver：TSMC Q2 財報 Jul 16 (EPS +55% YoY 預期) + Meta AI 晶片 9 月量產 + SK Hynix IPO 7x 超額　·　對台灣機構意義：TSMC 是台廠最熟悉標的，財報週為半導體 ETF 最強催化劑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7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87040"/>
            <a:ext cx="182880" cy="13868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78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主B｜能源逆轉 — OPEC+增產 × Hormuz 緩和雙殺油價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9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核心：UCO -6.40% (前週 +9.20%) · USO -3.40% · XOP -3.20% · WTI $68.55　·　相關 ETF：USO, BNO, UCO, XOP, XLE, IEO, DBO, USL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5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driver：OPEC+ 8 月再增產 188k bpd + Hormuz 通行量回升 + US-Iran 和談破局但市場消化　·　對台灣機構意義：能源債信用利差直接受油價影響，機構高收益債持倉能源發行人比重高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1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11040"/>
            <a:ext cx="182880" cy="13868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2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主C｜黃金大修正 — Fed 鷹派 9-8 分裂 × 避險需求退潮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3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核心：GLD -1.50% (前週 +2.50%) · GDX -2.10% · 金價 $4,075/oz (ATH -27%)　·　相關 ETF：GLD, GDX, SLV, TIP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79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driver：Fed FOMC 6 月 9-8 鷹派分裂 + Hormuz 風險降溫削減避險需求 + 7 月升息預期升溫　·　對台灣機構意義：黃金修正期法人需審視商品配置比重，TIP/GLD 組合 duration 管理關鍵時點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2026-07-10 · 國泰證券法人債券業務部 · 法人業務二處 · Friday topic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補充議題候選 ·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補充視角、選 2 個搭配主議題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補1｜小型股補漲 + 區域銀行反彈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核心：IWM +1.40% · KRE +1.00% · S&amp;P 500 週四 +0.80%　·　相關 ETF：IWM, KRE, MDY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driver：Fed 暫停升息預期回升，小型股與銀行股資金成本壓力緩解，輪動補漲　·　對台灣機構意義：大型科技持倉比重過高時的輪動替代視角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補2｜AI 機器人 ETF 加速 — SK Hynix IPO + HBM 需求旺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核心：BOTZ +5.20% · IRBO +5.00% · ROBO +4.40% · SK Hynix IPO 超額 7x　·　相關 ETF：BOTZ, ROBO, IRBO, ARKQ, THNQ, UBOT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driver：SK Hynix 美股 IPO 7 倍超額認購，顯示 AI 硬體需求持續強勁，機器人 ETF 受惠　·　對台灣機構意義：台灣 AI 供應鏈 ETF 選股參考，ROBO/BOTZ 持倉台廠比重分析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182880" cy="7772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補3｜Fed 分裂下債券 ETF 重新定位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核心：TLT -0.90% · IEF -0.50% · AGG -0.40% · 7 月升息概率 25.1%　·　相關 ETF：TLT, IEF, AGG, LQD, HYG, TIP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driver：Fed 9-8 鷹派分裂，後續升息不確定性升高，長債持續承壓，信用利差走寬壓力　·　對台灣機構意義：法人債券部門最直接核心議題，利率方向判斷決定組合 duration 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補4｜新興市場分化 — 中國 AI vs 巴西弱勢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核心：FXI +1.20% · INDA +0.80% · EEM +0.40% · EWZ -0.60%　·　相關 ETF：FXI, EEM, INDA, EWZ, EMB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driver：中國 AI 政策持續推進，印度製造業景氣穩健；巴西受能源出口价格拖累　·　對台灣機構意義：新興市場債 (EMB) 個別國家風險分化，需精細化分析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補5｜通訊/社群媒體 — Meta AI 晶片自研帶動 XLC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核心：XLC +2.10% · Meta +4.00% (本週) · QQQ +3.20%　·　相關 ETF：XLC, QQQ, IGV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driver：Meta 宣布 9 月量產自研 AI 晶片，降低對 NVDA 依賴，引發科技股重新定價　·　對台灣機構意義：AI 晶片自研趨勢長線影響 NVDA/TSMC 供應鏈格局，值得長期追蹤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2026-07-10 · 國泰證券法人債券業務部 · 法人業務二處 · Friday topic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AI / 半導體 / Robotics 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半導體 (含 TSM)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+4.80%</a:t>
                      </a:r>
                    </a:p>
                  </a:txBody>
                  <a:tcPr>
                    <a:solidFill>
                      <a:srgbClr val="C2D9C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+28.40%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費城半導體代理人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SOXX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半導體純美股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+4.60%</a:t>
                      </a:r>
                    </a:p>
                  </a:txBody>
                  <a:tcPr>
                    <a:solidFill>
                      <a:srgbClr val="C4DAC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-1.40%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+26.20%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廣泛半導體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Global X AI &amp;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+5.40%</a:t>
                      </a:r>
                    </a:p>
                  </a:txBody>
                  <a:tcPr>
                    <a:solidFill>
                      <a:srgbClr val="BDD5B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+35.10%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 主題寬基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BOTZ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Global X Robotics &amp; AI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+5.20%</a:t>
                      </a:r>
                    </a:p>
                  </a:txBody>
                  <a:tcPr>
                    <a:solidFill>
                      <a:srgbClr val="BFD6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-0.60%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+32.00%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機器人/AI 硬體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Robotics &amp;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+5.00%</a:t>
                      </a:r>
                    </a:p>
                  </a:txBody>
                  <a:tcPr>
                    <a:solidFill>
                      <a:srgbClr val="C0D7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+28.90%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機器人/AI 多元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ARKQ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 Autonomous Tech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+4.80%</a:t>
                      </a:r>
                    </a:p>
                  </a:txBody>
                  <a:tcPr>
                    <a:solidFill>
                      <a:srgbClr val="C2D9C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-0.60%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+24.60%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自動化科技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THNQ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ROBO Global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+4.60%</a:t>
                      </a:r>
                    </a:p>
                  </a:txBody>
                  <a:tcPr>
                    <a:solidFill>
                      <a:srgbClr val="C4DAC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+22.80%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 純主題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QQQ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Invesco QQQ Trust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+3.20%</a:t>
                      </a:r>
                    </a:p>
                  </a:txBody>
                  <a:tcPr>
                    <a:solidFill>
                      <a:srgbClr val="CFE2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-0.20%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+22.40%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那斯達克 100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2026-07-10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能源 / 商品 反轉鏈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ProShares 原油 2x 槓桿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-6.40%</a:t>
                      </a:r>
                    </a:p>
                  </a:txBody>
                  <a:tcPr>
                    <a:solidFill>
                      <a:srgbClr val="F1B2B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+9.20%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-20.50%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極端反轉訊號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United States Oil Fund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-3.40%</a:t>
                      </a:r>
                    </a:p>
                  </a:txBody>
                  <a:tcPr>
                    <a:solidFill>
                      <a:srgbClr val="F7CA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+5.00%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-10.20%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WTI 原油現貨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United States Brent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-3.10%</a:t>
                      </a:r>
                    </a:p>
                  </a:txBody>
                  <a:tcPr>
                    <a:solidFill>
                      <a:srgbClr val="F7CD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-8.60%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Brent 原油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XOP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Oil &amp; Gas E&amp;P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-3.20%</a:t>
                      </a:r>
                    </a:p>
                  </a:txBody>
                  <a:tcPr>
                    <a:solidFill>
                      <a:srgbClr val="F7CC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+4.50%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-12.40%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油氣上游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Energy Select SPDR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-2.80%</a:t>
                      </a:r>
                    </a:p>
                  </a:txBody>
                  <a:tcPr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-8.10%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能源類股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GDX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黃金礦業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-2.10%</a:t>
                      </a:r>
                    </a:p>
                  </a:txBody>
                  <a:tcPr>
                    <a:solidFill>
                      <a:srgbClr val="F9D5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+3.20%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-15.20%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黃金礦業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Gold Shares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-1.50%</a:t>
                      </a:r>
                    </a:p>
                  </a:txBody>
                  <a:tcPr>
                    <a:solidFill>
                      <a:srgbClr val="FA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-21.30%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黃金實體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SLV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Silver Trust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-1.80%</a:t>
                      </a:r>
                    </a:p>
                  </a:txBody>
                  <a:tcPr>
                    <a:solidFill>
                      <a:srgbClr val="FAD7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+2.10%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-18.50%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白銀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2026-07-10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Macro 事件 + A 級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本週主要 catalyst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📌 Macro 事件本週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2026-07-05 OPEC+ 宣布 8 月再增產 188,000 bpd，連續三月增產，原油供給壓力升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2026-07-05 US-Iran 日內瓦和談突然中止，Hormuz 局勢再緊但市場反應溫和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2026-07-07 Meta 宣布自研 AI 晶片 9 月量產，科技/AI ETF 帶動本週大盤上漲 (Meta +4%)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2026-07-09 TSMC Q2 財報前夕 (Jul 16)，EPS +55% YoY 預期，半導體 ETF 強勢提前佈局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Fed FOMC 6 月會議紀錄 9-8 分裂傾鷹，7 月維持利率 74.9%，後續升息預期升溫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黃金修正持續：$4,075/oz (ATH $5,600 以來 -27%)，J.P. Morgan 仍預測 Q4 達 $6,000/oz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📚 A 級 research（本週）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(本週無重要 A 級 research、或 yfinance scan 未觸發)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2026-07-10 · 國泰證券法人債券業務部 · 法人業務二處 · Friday topic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Monday 20260713 待決策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週一早上接續、預估 2-2.5 hr 全套完成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議題組合確認：1 主（主A/B/C 選一）+ 2 補充（補1-5 選二）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重抓 yfinance 含週五 close (5 trading days 完整週) —— 本次代理封鎖，週一優先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saturation Round 1+ 加 Codex Gate 3 平行驗證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寫 reading_map.md + 底稿.md (UWS 12 章節)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build docx + lint_ryan_feedback 12 規則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Studio Path A + B + Codex Path C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Codex audit + persona pre-screen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quality_report A++ 簽核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2026-07-10 · 國泰證券法人債券業務部 · 法人業務二處 · Friday topic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