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20260629 期 · 涵蓋 2026-06-22 ~ 2026-06-26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partial scan · Mon-Thu close (4 trading days) · Monday 重抓含週五 close · yfinance proxy blocked → WebSearch 推算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EEM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+2.80%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EM 反彈領漲 +5.3pp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SMH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-6.50%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半導體崩殺 -9.7pp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-5.10%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防務急跌 -8.9pp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最強反彈：EEM +5.3 pp（本週 +2.80% / 上週 -2.50%）　|　最猛下殺：SMH -9.7 pp（本週 -6.50% / 上週 +3.20%）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A 半導體 ETF 逆風 — AI 估值重設時代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核心：SMH -6.50% · SOXX -6.20% · AMD -6.2% · Intel -7.6% · Micron -8.5%　·　相關 ETF：SMH, SOXX, XLK, QQQ, ARKK, IRBO, BOTZ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driver：全球晶片股拋售；AI 需求估值過高質疑；Kospi 單日 -10%　·　對台灣機構意義：科技 ETF 持倉面臨考驗，防守型半導體(含TSM)優於純AI暴露，評估是否超配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B 美伊和談煉成油價下移 — 2026 供應過剩年成形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核心：XLE -2.80% · XOP -3.10% · 油價~$70/桶 · ITA -5.10%　·　相關 ETF：XLE, XOP, USO, BNO, ITA, AMLP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driver：Hormuz 管制鬆綁，沙特油輪重啟；伊拉克退出OPEC威脅；2026供應過剩預期升溫　·　對台灣機構意義：能源 ETF 多頭空間大幅收窄，降低持倉比例；防務ITA短線避開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C 黃金破4000美元 — 升息預期重設黃金估值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核心：GLD -4.80%（跌至$3,990，7個月新低）· GDX -5.20%　·　相關 ETF：GLD, GDX, SLV, TIP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 全年不降息（3.5~3.75%）；高盛下調年末金價至$4,900（原$5,400）　·　對台灣機構意義：機構應檢視持倉成本線，適度減倉；央行買盤可能成下檔支撐再加碼點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D 防禦板塊輪動 — XLP / XLU / USMV 正反轉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核心：XLP +1.50%（反轉+2.3pp）· XLU +1.30%（+1.7pp）　·　相關 ETF：XLP, XLU, USMV, QUAL, RSP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driver：科技急跌帶動資金旋轉防禦，低波動策略吸引避險資金　·　對台灣機構意義：科技 ETF 減倉後可部分旋轉至消費必需/公用事業配置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E 債券 ETF 反彈 — TLT / AGG / IEF 資金回流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核心：TLT +2.10%（反轉+3.9pp）· AGG +1.20%（+2.7pp）· IEF +0.90%　·　相關 ETF：TLT, IEF, AGG, LQD, HYG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driver：股市波動驅動資金回流公債，長端利率短暫下行；Fed鷹派限制上漲空間　·　對台灣機構意義：債券ETF短線逃難買盤，需區分是否趨勢轉向；長債配置不宜追高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F 新興市場差異化 — EEM / INDA / EWZ 美伊緩和受惠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核心：EEM +2.80%（反轉+5.3pp）· INDA +2.30% · EWZ +2.10%　·　相關 ETF：EEM, INDA, EWZ, FXI, VGK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driver：美伊緩和降低全球地緣風險；印度/巴西各有獨立基本面支撐　·　對台灣機構意義：EM ETF 配置差異化，印度成長軌道完整優於廣義EM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G 防務 ITA 暴跌後機會評估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核心：ITA -5.10%（前週+3.80%，反轉-8.9pp）　·　相關 ETF：ITA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driver：美伊和談明確利空，但和平協議持久性仍有疑問，長線國防預算增　·　對台灣機構意義：短線避開，觀察 ITA 是否出現基本面支撐進場點（區間低點策略）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H AI 機器人 ETF 跟殺 — BOTZ / ROBO / IRBO 半導體延伸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核心：ARKK -5.30%；AI/機器人 ETF 跟隨半導體下殺　·　相關 ETF：BOTZ, ROBO, IRBO, ARKQ, ARKK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driver：半導體估值重設延伸至 AI/機器人 ETF，成長股整體承壓　·　對台灣機構意義：若持有BOTZ/ROBO，評估縮倉至SMH/SOXX更穩健核心半導體部位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半導體 / AI / Robotics — 本週全面承壓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半導體 (含TSM)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-6.50%</a:t>
                      </a:r>
                    </a:p>
                  </a:txBody>
                  <a:tcPr>
                    <a:solidFill>
                      <a:srgbClr val="F0B1B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+18.2%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20260629主議題核心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SOXX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半導體純美股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-6.20%</a:t>
                      </a:r>
                    </a:p>
                  </a:txBody>
                  <a:tcPr>
                    <a:solidFill>
                      <a:srgbClr val="F1B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+3.00%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+15.8%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下殺龍頭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科技類股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-3.90%</a:t>
                      </a:r>
                    </a:p>
                  </a:txBody>
                  <a:tcPr>
                    <a:solidFill>
                      <a:srgbClr val="F6C6C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大型科技拖累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QQQ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Nasdaq 100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-3.20%</a:t>
                      </a:r>
                    </a:p>
                  </a:txBody>
                  <a:tcPr>
                    <a:solidFill>
                      <a:srgbClr val="F7CC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+2.00%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+6.2%</a:t>
                      </a:r>
                    </a:p>
                  </a:txBody>
                  <a:tcPr>
                    <a:solidFill>
                      <a:srgbClr val="B7D0B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成長股基準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 創新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-5.30%</a:t>
                      </a:r>
                    </a:p>
                  </a:txBody>
                  <a:tcPr>
                    <a:solidFill>
                      <a:srgbClr val="F3BBB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-12.4%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高 Beta 風險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BOTZ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Global X Robotics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-3.50%</a:t>
                      </a:r>
                    </a:p>
                  </a:txBody>
                  <a:tcPr>
                    <a:solidFill>
                      <a:srgbClr val="F6C9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+1.20%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+9.8%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機器人跟跌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Robotics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-3.80%</a:t>
                      </a:r>
                    </a:p>
                  </a:txBody>
                  <a:tcPr>
                    <a:solidFill>
                      <a:srgbClr val="F6C7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+11.2%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 Brain 鍊條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IGV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軟體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-3.10%</a:t>
                      </a:r>
                    </a:p>
                  </a:txBody>
                  <a:tcPr>
                    <a:solidFill>
                      <a:srgbClr val="F7CD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+1.90%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+5.5%</a:t>
                      </a:r>
                    </a:p>
                  </a:txBody>
                  <a:tcPr>
                    <a:solidFill>
                      <a:srgbClr val="BCD4B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軟體跌幅相對少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油氣 / 黃金 / 防務 — 地緣題材 ETF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黃金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-4.80%</a:t>
                      </a:r>
                    </a:p>
                  </a:txBody>
                  <a:tcPr>
                    <a:solidFill>
                      <a:srgbClr val="F4BF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+3.8%</a:t>
                      </a:r>
                    </a:p>
                  </a:txBody>
                  <a:tcPr>
                    <a:solidFill>
                      <a:srgbClr val="CADFC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黃金破$4,000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GDX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黃金礦業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-5.20%</a:t>
                      </a:r>
                    </a:p>
                  </a:txBody>
                  <a:tcPr>
                    <a:solidFill>
                      <a:srgbClr val="F3BCB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+1.10%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-2.1%</a:t>
                      </a:r>
                    </a:p>
                  </a:txBody>
                  <a:tcPr>
                    <a:solidFill>
                      <a:srgbClr val="F9D5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礦業放大跌幅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白銀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-3.90%</a:t>
                      </a:r>
                    </a:p>
                  </a:txBody>
                  <a:tcPr>
                    <a:solidFill>
                      <a:srgbClr val="F6C6C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+5.2%</a:t>
                      </a:r>
                    </a:p>
                  </a:txBody>
                  <a:tcPr>
                    <a:solidFill>
                      <a:srgbClr val="BFD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工業銀跟跌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綜合能源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-2.80%</a:t>
                      </a:r>
                    </a:p>
                  </a:txBody>
                  <a:tcPr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+1.8%</a:t>
                      </a:r>
                    </a:p>
                  </a:txBody>
                  <a:tcPr>
                    <a:solidFill>
                      <a:srgbClr val="DAEB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能源整體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油氣 E&amp;P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-3.10%</a:t>
                      </a:r>
                    </a:p>
                  </a:txBody>
                  <a:tcPr>
                    <a:solidFill>
                      <a:srgbClr val="F7CD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+3.2%</a:t>
                      </a:r>
                    </a:p>
                  </a:txBody>
                  <a:tcPr>
                    <a:solidFill>
                      <a:srgbClr val="CFE2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高 Beta 油氣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 期貨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-3.50%</a:t>
                      </a:r>
                    </a:p>
                  </a:txBody>
                  <a:tcPr>
                    <a:solidFill>
                      <a:srgbClr val="F6C9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+2.10%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-5.3%</a:t>
                      </a:r>
                    </a:p>
                  </a:txBody>
                  <a:tcPr>
                    <a:solidFill>
                      <a:srgbClr val="F3BBB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油價直接暴露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航太國防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-5.10%</a:t>
                      </a:r>
                    </a:p>
                  </a:txBody>
                  <a:tcPr>
                    <a:solidFill>
                      <a:srgbClr val="F3BDB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+6.4%</a:t>
                      </a:r>
                    </a:p>
                  </a:txBody>
                  <a:tcPr>
                    <a:solidFill>
                      <a:srgbClr val="B5CF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和談急殺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TLT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20年期公債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+2.10%</a:t>
                      </a:r>
                    </a:p>
                  </a:txBody>
                  <a:tcPr>
                    <a:solidFill>
                      <a:srgbClr val="D8E9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-1.80%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-1.2%</a:t>
                      </a:r>
                    </a:p>
                  </a:txBody>
                  <a:tcPr>
                    <a:solidFill>
                      <a:srgbClr val="FBDC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避險買盤回流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Fed 6/18 第三次凍息：3.50%~3.75%；新主席 Warsh 鷹派，2026 全年不降息格局確立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美伊和談加速：Hormuz 管制鬆綁，沙特油輪重啟 Ras Tanura，US 臨時 waiver 允許已載油交付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全球晶片股拋售：SMH -6.5% / AMD -6.2% / Intel -7.6% / Micron -8.5% / Kospi 單日 -10%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高盛下調黃金年末目標至 $4,900（原 $5,400）；GLD 跌破 $4,000 至 $3,990（7個月新低）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油價回落至 $70/桶；伊拉克威脅退出 OPEC；2026 全球供應過剩預期升溫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S&amp;P 500 週漲約 +1.0%（截至週三）；科技拖累但防禦板塊與債券支撐整體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20260629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 + 2 補充（建議 A半導體 + E債券 + F新興市場）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close（5 trading days 完整週）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底稿.md（UWS 12 章節）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2026-06-26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