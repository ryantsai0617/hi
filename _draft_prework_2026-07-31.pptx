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1B4F5A"/>
                </a:solidFill>
                <a:latin typeface="Calibri"/>
                <a:ea typeface="微軟正黑體"/>
              </a:rPr>
              <a:t>美股 ETF 週報 — Friday topic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  <a:ea typeface="微軟正黑體"/>
              </a:rPr>
              <a:t>20260803 期 · 涵蓋 2026-07-27 ~ 2026-07-31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v0 partial scan · Mon-Thu close (4 trading days) · Monday 重抓含週五 close · yfinance proxy blocked → web-derived estimates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8087" y="3657600"/>
            <a:ext cx="3108960" cy="201168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808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XOP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08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+9.6%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08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E&amp;P 反彈王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1367" y="3657600"/>
            <a:ext cx="3108960" cy="2011680"/>
          </a:xfrm>
          <a:prstGeom prst="round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36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TLT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-4.3%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長債下殺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647" y="3657600"/>
            <a:ext cx="3108960" cy="2011680"/>
          </a:xfrm>
          <a:prstGeom prst="round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64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SMH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64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+5.0%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半導體強勢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2026-07-31 · 國泰證券法人債券業務部 · 法人業務二處 · Friday topic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468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400" b="1">
                <a:solidFill>
                  <a:srgbClr val="FFFFFF"/>
                </a:solidFill>
                <a:latin typeface="Calibri"/>
                <a:ea typeface="微軟正黑體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754880"/>
            <a:ext cx="1371600" cy="914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400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微軟正黑體"/>
              </a:rPr>
              <a:t>反轉訊號 ·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  <a:ea typeface="微軟正黑體"/>
              </a:rPr>
              <a:t>2026-07-31 · 國泰證券法人債券業務部 · 法人業務二處 · Friday topic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反轉訊號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 partial vs 上週、Top 10 反彈（綠）+ Top 10 反向下殺（紅）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97280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最強反彈：XOP +9.6 pp（本週 +7.50% / 上週 -2.10%）　|　最猛下殺：TLT -4.3 pp（本週 -2.50% / 上週 +1.80%）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2026-07-31 · 國泰證券法人債券業務部 · 法人業務二處 · Friday topic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主議題候選 · Top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敘事最強、優先選為主議題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13868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能源反彈：美伊緊張 × Hormuz 風險升溫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核心：XOP +7.5% / XLE +6.2% / USO +5.8% / Brent ~$89　·　相關 ETF：XOP, XLE, USO, BNO, IEO, AMLP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driver：美軍攔截伊朗攻擊，WTI +4.4% 單日，月漲幅創 2024/3 以來最大　·　對台灣機構意義：能源 ETF 加倉窗口；台灣能源進口依賴高，對衝工具討論時機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87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87040"/>
            <a:ext cx="182880" cy="13868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78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AI 晶片超級週期：TSMC Q2 +34% 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89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核心：SMH +4.2% / SOXX +3.9% / QQQ +2.8% / TSMC YTD +52%　·　相關 ETF：SMH, SOXX, IGV, QQQ, ARKQ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5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driver：TSMC Q2 收入 +34% YoY，3nm 售磬，向 Apple/NVDA/AMD 漲價 5-10%　·　對台灣機構意義：台積電相關 ETF 增配論述強化；SMH 作為 TSM 間接敞口工具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11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11040"/>
            <a:ext cx="182880" cy="13868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02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長債困境：升息預期重燃 × 通膨 4.2%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13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核心：TLT -2.5% / IEF -1.8% / AGG -1.8% / 9月升息概率 47%　·　相關 ETF：TLT, IEF, AGG, LQD, HYG, EMB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79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driver：Fed 7月維持利率，但 CPI 4.2% 三年高；CME FedWatch 9月升息 47%　·　對台灣機構意義：IG 債存續期風險重估；信用利差監控；HY ETF 下行風險評估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2026-07-31 · 國泰證券法人債券業務部 · 法人業務二處 · Friday topic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補充議題候選 · Top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補充視角、選 2 個搭配主議題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國防航太：中東衝突 × AI 軍事需求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核心：ITA +3.1% (reversal +3.3%)　·　相關 ETF：ITA, BOTZ, ARKQ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driver：美軍介入 Hormuz + AI 軍事應用推升國防支出預期　·　對台灣機構意義：地緣政治風險分散配置；ITA 作為非傳統避險工具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黃金回調：高通膨悖論 × 實質利率壓力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核心：GLD -3.2% / GDX -4.1% / 金價從 $5,598 跌至 $4,140　·　相關 ETF：GLD, GDX, SLV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driver：升息預期 + 實質利率上升壓縮無息黃金；避險資產再定價　·　對台灣機構意義：避險資產配置重評；GLD vs. TIPs 替代論述時機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182880" cy="7772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清潔能源逆風：高利率 × 傳統能源搶資金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核心：ICLN -1.5% (reversal -2.3%)　·　相關 ETF：ICLN vs XLE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driver：高利率壓縮綠能估值；WTI 反彈讓傳統能源重奪資金流入　·　對台灣機構意義：ESG 組合能源轉型風險監控；IRA 不確定性重評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新興市場分化：美元走強 × FXI 結構弱勢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核心：EEM -1.2% / FXI -1.8%　·　相關 ETF：EEM, FXI, INDA, EWZ, VGK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driver：升息預期推升美元；中國結構性弱勢；印度 INDA 相對強勢　·　對台灣機構意義：EMB 新興市場債替代評估；INDA 印度分散論述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成長 vs. 小型股分化：大型科技勝出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核心：ARKK +3.8% / QQQ +2.8% vs. IWM 相對落後　·　相關 ETF：ARKK, QQQ, IWM, MTUM, QUAL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driver：Microsoft +16% 帶動大型科技；小型股 IWM 對利率更敏感相對落後　·　對台灣機構意義：風格因子輪動節點；Smart Beta MTUM/QUAL 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2026-07-31 · 國泰證券法人債券業務部 · 法人業務二處 · Friday topic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能源・地緣政治 ETF 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Oil&amp;Gas E&amp;P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+7.5%</a:t>
                      </a:r>
                    </a:p>
                  </a:txBody>
                  <a:tcPr>
                    <a:solidFill>
                      <a:srgbClr val="ACC8A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+12.3%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E&amp;P 純度最高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XLE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Energy Select SPDR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+6.2%</a:t>
                      </a:r>
                    </a:p>
                  </a:txBody>
                  <a:tcPr>
                    <a:solidFill>
                      <a:srgbClr val="B7D0B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-1.8%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+8.7%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綜合能源最佳流動性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 Oil Fund (WTI)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+5.8%</a:t>
                      </a:r>
                    </a:p>
                  </a:txBody>
                  <a:tcPr>
                    <a:solidFill>
                      <a:srgbClr val="BAD3B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+7.4%</a:t>
                      </a:r>
                    </a:p>
                  </a:txBody>
                  <a:tcPr>
                    <a:solidFill>
                      <a:srgbClr val="ADC9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WTI 近月期貨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BNO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 Brent Oil Fund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+5.5%</a:t>
                      </a:r>
                    </a:p>
                  </a:txBody>
                  <a:tcPr>
                    <a:solidFill>
                      <a:srgbClr val="BCD4B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-1.6%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+9.1%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Brent 國際基準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Oil&amp;Gas E&amp;P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+4.8%</a:t>
                      </a:r>
                    </a:p>
                  </a:txBody>
                  <a:tcPr>
                    <a:solidFill>
                      <a:srgbClr val="C2D9C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+10.2%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E&amp;P iShares版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AMLP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Alerian MLP ETF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+2.1%</a:t>
                      </a:r>
                    </a:p>
                  </a:txBody>
                  <a:tcPr>
                    <a:solidFill>
                      <a:srgbClr val="D8E9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-0.3%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+5.8%</a:t>
                      </a:r>
                    </a:p>
                  </a:txBody>
                  <a:tcPr>
                    <a:solidFill>
                      <a:srgbClr val="BAD3B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管道MLP防禦型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Aerospace Defense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+3.1%</a:t>
                      </a:r>
                    </a:p>
                  </a:txBody>
                  <a:tcPr>
                    <a:solidFill>
                      <a:srgbClr val="D0E3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+14.2%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國防地緣溢價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2026-07-31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AI 晶片・科技 ETF 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SMH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VanEck Semiconductor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+4.2%</a:t>
                      </a:r>
                    </a:p>
                  </a:txBody>
                  <a:tcPr>
                    <a:solidFill>
                      <a:srgbClr val="C7DC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+41.2%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半導體龍頭ETF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SOXX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Semiconductor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+3.9%</a:t>
                      </a:r>
                    </a:p>
                  </a:txBody>
                  <a:tcPr>
                    <a:solidFill>
                      <a:srgbClr val="C9DE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-1.2%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+38.5%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半導體均衡配置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Tech-Software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+3.5%</a:t>
                      </a:r>
                    </a:p>
                  </a:txBody>
                  <a:tcPr>
                    <a:solidFill>
                      <a:srgbClr val="CCE0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+28.6%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軟體雲端MSFT重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QQQ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Invesco NASDAQ-100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+2.8%</a:t>
                      </a:r>
                    </a:p>
                  </a:txBody>
                  <a:tcPr>
                    <a:solidFill>
                      <a:srgbClr val="D2E5D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-0.4%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+24.7%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科技廣基最佳流動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 Autonomous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+3.5%</a:t>
                      </a:r>
                    </a:p>
                  </a:txBody>
                  <a:tcPr>
                    <a:solidFill>
                      <a:srgbClr val="CCE0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+22.8%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AI機器人成長極端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BOTZ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Global X Robotics AI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+2.8%</a:t>
                      </a:r>
                    </a:p>
                  </a:txBody>
                  <a:tcPr>
                    <a:solidFill>
                      <a:srgbClr val="D2E5D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-0.3%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+19.4%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機器人AI偏硬體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ROBO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ROBO Global Robotics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+2.5%</a:t>
                      </a:r>
                    </a:p>
                  </a:txBody>
                  <a:tcPr>
                    <a:solidFill>
                      <a:srgbClr val="D4E6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+17.8%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機器人廣泛配置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2026-07-31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Macro 事件 + A 級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本週主要 catalyst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📌 Macro 事件本週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美伊緊張：美軍攔截伊朗攻擊，WTI +4.4% 單日，Brent ~$89，月漲創 2024/3 以來最大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Fed 7月維持利率 3.50-3.75%；9月升息概率升至 47.1%（CME FedWatch）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通膨警報：6月 CPI 4.2%（三年高），市場由降息預期轉為升息擔憂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科技財報超強：Microsoft 單日 +16%（+$450B 市值）；TSMC Q2 +34% YoY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TSMC 漲價訊號：3nm 售磬，向 Apple/NVDA/AMD 發出 5-10% 晶圓漲價預告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S&amp;P500 週四 7,437.64 (+1.7%)；Fed 維持後科技財報帶動反彈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📚 A 級 research（本週）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2120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(本週無重要 A 級 research、或 yfinance scan 未觸發)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2026-07-31 · 國泰證券法人債券業務部 · 法人業務二處 · Friday topic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Monday 20260803 待決策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週一早上接續、預估 2-2.5 hr 全套完成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議題組合確認：1 主 + 2 補充（建議 M1能源 + S1國防 + M3長債）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重抓 yfinance 含週五 close（5 trading days 完整週資料）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889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saturation Round 1+ 加 Codex Gate 3 平行驗證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寫 reading_map.md + 底稿.md（UWS 12 章節架構）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build docx + lint_ryan_feedback 12 規則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Studio Path A + B + Codex Path C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663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Codex audit + persona pre-screen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7607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quality_report A++ 簽核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2026-07-31 · 國泰證券法人債券業務部 · 法人業務二處 · Friday topic 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