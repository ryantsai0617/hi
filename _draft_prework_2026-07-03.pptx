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2191695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1B4F5A"/>
                </a:solidFill>
                <a:latin typeface="Calibri"/>
                <a:ea typeface="微軟正黑體"/>
              </a:rPr>
              <a:t>美股 ETF 週報 — Friday topic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  <a:ea typeface="微軟正黑體"/>
              </a:rPr>
              <a:t>20260706 期 · 涵蓋 2026-06-29 ~ 2026-07-03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v0 估算版 · yfinance proxy 403 封鎖 · 數據為 WebSearch 市場估算 · Monday 重抓含週五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8087" y="3657600"/>
            <a:ext cx="3108960" cy="2011680"/>
          </a:xfrm>
          <a:prstGeom prst="round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808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GDX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08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+10.0%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08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反彈#1 金礦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1367" y="3657600"/>
            <a:ext cx="3108960" cy="2011680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136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UCO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36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-15.3%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下殺#1 2x原油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647" y="3657600"/>
            <a:ext cx="3108960" cy="2011680"/>
          </a:xfrm>
          <a:prstGeom prst="round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647" y="3840480"/>
            <a:ext cx="31089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微軟正黑體"/>
              </a:rPr>
              <a:t>IWM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47" y="4297680"/>
            <a:ext cx="3108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  <a:ea typeface="微軟正黑體"/>
              </a:rPr>
              <a:t>+4.3%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47" y="5120640"/>
            <a:ext cx="31089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微軟正黑體"/>
              </a:rPr>
              <a:t>小型股H1封王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2026-07-03 · 國泰證券法人債券業務部 · 法人業務二處 · Friday topic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400" b="1">
                <a:solidFill>
                  <a:srgbClr val="FFFFFF"/>
                </a:solidFill>
                <a:latin typeface="Calibri"/>
                <a:ea typeface="微軟正黑體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754880"/>
            <a:ext cx="1371600" cy="914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6400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微軟正黑體"/>
              </a:rPr>
              <a:t>反轉訊號 ·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  <a:ea typeface="微軟正黑體"/>
              </a:rPr>
              <a:t>2026-07-03 · 國泰證券法人債券業務部 · 法人業務二處 · Friday topic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反轉訊號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 partial vs 上週、Top 10 反彈（綠）+ Top 10 反向下殺（紅）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9728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B4F5A"/>
                </a:solidFill>
                <a:latin typeface="Calibri"/>
                <a:ea typeface="微軟正黑體"/>
              </a:rPr>
              <a:t>最強反彈：GDX +10.0 pp（本週 +5.20% / 上週 -4.80%）　|　最猛下殺：UCO -15.3 pp（本週 -10.50% / 上週 +4.80%）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2026-07-03 · 國泰證券法人債券業務部 · 法人業務二處 · Friday topic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主議題候選 · Top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敘事最強、優先選為主議題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13868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霍爾木茲重開 × 能源崩跌：供應衝擊逆轉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核心：Brent -11% 週跌 / XOP -6.5% / UCO -10.5% / WTI $67　·　相關 ETF：XLE · XOP · USO · UCO · BNO · DBO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driver：UAE出口恢復3.9M bpd，Hormuz日流量&gt;10M，OPEC+護盤失效　·　對台灣機構意義：高收益能源債違約風險升高，美元計能源ETF提前減碼訊號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87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87040"/>
            <a:ext cx="182880" cy="13868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78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半導體超級週期：AI算力驅動股債雙贏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89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核心：SOXQ +99% YTD / AMD +150% / TSMC +46% / SMH週+2.5%　·　相關 ETF：SMH · SOXX · ARKK · ARKQ · IGV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5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driver：TSMC 5月收入+30% YoY，AI資本支出超預期，算力路線圖落地　·　對台灣機構意義：台廠供應鏈直接受惠，台積電相關ETF為機構優先配置標的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11040"/>
            <a:ext cx="10972800" cy="1386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511040"/>
            <a:ext cx="182880" cy="13868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02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黃金$4,100反彈 × Fed升息疑慮重定價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13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核心：GLD週+2.8% / GDX週+5.2% / 金價從8月低反彈 / 9月升息概率~50%　·　相關 ETF：GLD · GDX · SLV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79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driver：弱就業數據壓制Fed升息預期，貴金屬補漲，7月維持概率66.3%　·　對台灣機構意義：貴金屬ETF作為Duration對沖替代工具，搭配長債部位配套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2026-07-03 · 國泰證券法人債券業務部 · 法人業務二處 · Friday topic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補充議題候選 · Top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補充視角、選 2 個搭配主議題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小型股H1封王：Russell 2000 +22% best since 1991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核心：IWM YTD+22% / H1最佳自1991 / 週+2.8%　·　相關 ETF：IWM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driver：美國利率峰值+製造業回流，domestic small caps強勢　·　對台灣機構意義：IWM選擇權結構性商品Q3布局節點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清潔能源逆勢彈：地緣轉型加速論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核心：ICLN週+2.2% / YTD-5.5% 仍落後 / 能源轉型論強化　·　相關 ETF：ICLN · BOTZ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driver：霍爾木茲事件強化化石燃料脆弱性敘事，ESG資金再配置　·　對台灣機構意義：台灣ESG機構2H2026能源轉型布局參考，逢低介入訊號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182880" cy="777240"/>
          </a:xfrm>
          <a:prstGeom prst="rect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新興市場反彈：美元壓力緩解×EM資金流入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核心：EEM週+1.8% / EWZ週+2.5% / DXY壓力緩解　·　相關 ETF：EEM · FXI · EWZ · INDA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driver：Fed升息概率下降→DXY走弱→EM資金回流　·　對台灣機構意義：亞債ETF重新定價，台股相對新興市場吸引力評估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182880" cy="777240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生技醫療修復：估值谷底×FDA管線催化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核心：IBB週+2.0% / XBI週+1.5% / 估值仍歷史低位　·　相關 ETF：IBB · XBI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driver：H2 FDA審查日曆密集，生技估值修復契機　·　對台灣機構意義：生醫ETF搭配台灣生技類股主題，長線布局視窗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20640"/>
            <a:ext cx="10972800" cy="7772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182880" cy="7772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B4F5A"/>
                </a:solidFill>
                <a:latin typeface="Calibri"/>
                <a:ea typeface="微軟正黑體"/>
              </a:rPr>
              <a:t>S&amp;P 500 Q2最佳×Q3布局節點評估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  <a:ea typeface="微軟正黑體"/>
              </a:rPr>
              <a:t>核心：SPY YTD+9.6% / H1 best since 2020 / Q2收7,449　·　相關 ETF：SPY · RSP · QQQ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4A4A4A"/>
                </a:solidFill>
                <a:latin typeface="Calibri"/>
                <a:ea typeface="微軟正黑體"/>
              </a:rPr>
              <a:t>driver：企業盈利韌性+AI生產力溢價，Q3通常季節性轉弱需注意　·　對台灣機構意義：機構Q3再平衡時機，RSP均等權重vs SPY市值權重配置評估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2026-07-03 · 國泰證券法人債券業務部 · 法人業務二處 · Friday topic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能源地緣 ETF 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S&amp;P 500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-3.8</a:t>
                      </a:r>
                    </a:p>
                  </a:txBody>
                  <a:tcPr>
                    <a:solidFill>
                      <a:srgbClr val="F6C7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-10.5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大盤能源股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XOP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S&amp;P O&amp;G E&amp;P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-6.5</a:t>
                      </a:r>
                    </a:p>
                  </a:txBody>
                  <a:tcPr>
                    <a:solidFill>
                      <a:srgbClr val="F0B1B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+3.8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-18.5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E&amp;P純玩高Beta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Oil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-5.5</a:t>
                      </a:r>
                    </a:p>
                  </a:txBody>
                  <a:tcPr>
                    <a:solidFill>
                      <a:srgbClr val="F2B9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-22.8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WTI現貨追蹤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UCO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ProShares 2x Crude Oil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-10.5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+4.8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-42.5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2x WTI槓桿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US Brent Oil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-6.8</a:t>
                      </a:r>
                    </a:p>
                  </a:txBody>
                  <a:tcPr>
                    <a:solidFill>
                      <a:srgbClr val="F0AFA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-25.3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Brent現貨追蹤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AMLP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Alerian MLP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-2.8</a:t>
                      </a:r>
                    </a:p>
                  </a:txBody>
                  <a:tcPr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+1.8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-8.2</a:t>
                      </a:r>
                    </a:p>
                  </a:txBody>
                  <a:tcPr>
                    <a:solidFill>
                      <a:srgbClr val="EDA5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中游管線基建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2026-07-03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ETF 矩陣 — 貴金屬 × 避險 ETF 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一週% 含正負色標、YTD% 含絕對值色標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代號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全名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一週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上週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YTD %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</a:rPr>
                        <a:t>角色定位</a:t>
                      </a:r>
                    </a:p>
                  </a:txBody>
                  <a:tcPr>
                    <a:solidFill>
                      <a:srgbClr val="1B4F5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SPDR Gold 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+2.8</a:t>
                      </a:r>
                    </a:p>
                  </a:txBody>
                  <a:tcPr>
                    <a:solidFill>
                      <a:srgbClr val="D2E5D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+16.5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黃金現貨追蹤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GDX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VanEck Gold Miners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+5.2</a:t>
                      </a:r>
                    </a:p>
                  </a:txBody>
                  <a:tcPr>
                    <a:solidFill>
                      <a:srgbClr val="BFD6B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-4.8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+28.5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金礦股指數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SLV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Silver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+4.0</a:t>
                      </a:r>
                    </a:p>
                  </a:txBody>
                  <a:tcPr>
                    <a:solidFill>
                      <a:srgbClr val="C8DDC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+18.2</a:t>
                      </a:r>
                    </a:p>
                  </a:txBody>
                  <a:tcPr>
                    <a:solidFill>
                      <a:srgbClr val="A8C5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白銀現貨追蹤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TLT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iShares 20Y Treasury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+0.8</a:t>
                      </a:r>
                    </a:p>
                  </a:txBody>
                  <a:tcPr>
                    <a:solidFill>
                      <a:srgbClr val="E2F1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B91C1C"/>
                          </a:solidFill>
                          <a:latin typeface="Calibri"/>
                          <a:ea typeface="微軟正黑體"/>
                        </a:rPr>
                        <a:t>-1.5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5803D"/>
                          </a:solidFill>
                          <a:latin typeface="Calibri"/>
                          <a:ea typeface="微軟正黑體"/>
                        </a:rPr>
                        <a:t>+3.2</a:t>
                      </a:r>
                    </a:p>
                  </a:txBody>
                  <a:tcPr>
                    <a:solidFill>
                      <a:srgbClr val="CFE2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Calibri"/>
                          <a:ea typeface="微軟正黑體"/>
                        </a:rPr>
                        <a:t>長債Duration</a:t>
                      </a:r>
                    </a:p>
                  </a:txBody>
                  <a:tcPr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2026-07-03 · 國泰證券法人債券業務部 · 法人業務二處 · Friday topic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Macro 事件 + A 級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本週主要 catalyst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📌 Macro 事件本週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霍爾木茲重開：UAE出口3.9M bpd恢復，Brent跌破$71，WTI約$67，市場供應擔憂消散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Fed利率路徑：7月維持3.50%-3.75%概率66.3%，9月升息概率~50%（弱就業數據壓制）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黃金$4,100反彈：從8個月低點反彈，GLD+2.8%，GDX+5.2%（金礦槓桿效應）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S&amp;P 500 H1封王：+9.6% H1（2020年以來最佳），Q2收7,449，Q3開局7,483震盪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半導體超強：AMD+150%/TSMC+46%/SOXQ+99% YTD，TSMC 5月收入+30% YoY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•  美國7月4日假期：短週4交易日，流動性偏低，波動放大效應顯著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B7A78"/>
                </a:solidFill>
                <a:latin typeface="Calibri"/>
                <a:ea typeface="微軟正黑體"/>
              </a:rPr>
              <a:t>📚 A 級 research（本週）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  <a:ea typeface="微軟正黑體"/>
              </a:rPr>
              <a:t>(本週無重要 A 級 research、或 yfinance scan 未觸發)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2026-07-03 · 國泰證券法人債券業務部 · 法人業務二處 · Friday topic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B4F5A"/>
                </a:solidFill>
                <a:latin typeface="Calibri"/>
                <a:ea typeface="微軟正黑體"/>
              </a:rPr>
              <a:t>Monday 20260706 待決策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  <a:ea typeface="微軟正黑體"/>
              </a:rPr>
              <a:t>週一早上接續、預估 2-2.5 hr 全套完成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" cy="4572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議題組合確認：1 主 + 2 補充（建議 M2半導體主議題，M1能源+M3黃金補充）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945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重抓 yfinance 含週五 close（5 trading days 完整週）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本次數據為估算版，以實際收盤價校正反轉排名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saturation Round 1+ 加 Codex Gate 3 平行驗證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4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寫 reading_map.md + 底稿.md（UWS 12 章節）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7200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build docx + lint_ryan_feedback 12 規則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6636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NLM Studio Path A + B + Codex Path C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6072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76072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Codex audit + persona pre-screen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355080"/>
            <a:ext cx="457200" cy="457200"/>
          </a:xfrm>
          <a:prstGeom prst="ellipse">
            <a:avLst/>
          </a:prstGeom>
          <a:solidFill>
            <a:srgbClr val="1B4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微軟正黑體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6355080"/>
            <a:ext cx="10332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  <a:ea typeface="微軟正黑體"/>
              </a:rPr>
              <a:t>quality_report A++ 簽核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2026-07-03 · 國泰證券法人債券業務部 · 法人業務二處 · Friday topic preview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767676"/>
                </a:solidFill>
                <a:latin typeface="Calibri"/>
                <a:ea typeface="微軟正黑體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