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01010"/>
                </a:solidFill>
                <a:latin typeface="微軟正黑體"/>
              </a:rPr>
              <a:t>FCN Weekly — KI/KO 期望值週報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微軟正黑體"/>
              </a:rPr>
              <a:t>20260706 期  |  週次 2026-06-29 ~ 2026-07-02  |  生成 2026-07-03（Fri）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0295C"/>
                </a:solidFill>
                <a:latin typeface="微軟正黑體"/>
              </a:rPr>
              <a:t>E[FCN] = p(KO)×小獲利 + p(平安)×票息 + p(KI)×大損失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A2A"/>
                </a:solidFill>
                <a:latin typeface="微軟正黑體"/>
              </a:rPr>
              <a:t>發生機率與發生損失的差異，造成期望值的不同 — 存量健檢 × 發行時點雙主軸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3566160" cy="182880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軟正黑體"/>
              </a:rPr>
              <a:t>VIX 16.59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微軟正黑體"/>
              </a:rPr>
              <a:t>殺盤週衝高後回落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微軟正黑體"/>
              </a:rPr>
              <a:t>新發行票息原料流失中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3291840"/>
            <a:ext cx="3566160" cy="18288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01010"/>
                </a:solidFill>
                <a:latin typeface="微軟正黑體"/>
              </a:rPr>
              <a:t>非農 +57K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01010"/>
                </a:solidFill>
                <a:latin typeface="微軟正黑體"/>
              </a:rPr>
              <a:t>vs 預期 ~110K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01010"/>
                </a:solidFill>
                <a:latin typeface="微軟正黑體"/>
              </a:rPr>
              <a:t>9月升息機率 67% → &lt;50%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3291840"/>
            <a:ext cx="3566160" cy="18288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軟正黑體"/>
              </a:rPr>
              <a:t>MU 高點 -13%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微軟正黑體"/>
              </a:rPr>
              <a:t>SOX 高點回落 -6.7%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微軟正黑體"/>
              </a:rPr>
              <a:t>存續 FCN 之 KI 緩衝被吃掉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55555"/>
                </a:solidFill>
                <a:latin typeface="微軟正黑體"/>
              </a:rPr>
              <a:t>⚠ v0 partial scan：yfinance 遭 proxy 封鎖，est. 數字以 WebSearch 新聞推算，Monday 校正。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55555"/>
                </a:solidFill>
                <a:latin typeface="微軟正黑體"/>
              </a:rPr>
              <a:t>本週僅 4 個交易日（7/3 休市、7/4 週六）→ Mon-Thu close 即完整週。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295C"/>
                </a:solidFill>
                <a:latin typeface="微軟正黑體"/>
              </a:rPr>
              <a:t>國泰證券法人債券業務部 · 法人業務二處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〇  本期框架：KI/KO 期望值分解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295C"/>
                </a:solidFill>
                <a:latin typeface="微軟正黑體"/>
              </a:rPr>
              <a:t>E[FCN] = p(KO) × (已收票息+提前出場) + p(平安到期) × (全期票息) + p(KI) × (已收票息 − 承接跌幅)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63440"/>
                <a:gridCol w="46634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維度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KO（敲出）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KI（敲入）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發生機率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高：障礙設在 spot 附近，正常波動即觸發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低：障礙設在深度價外（常見 60~70%）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發生損益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小額封頂（票息出場）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大額開放（跟跌現貨，理論可至 -100%）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期望值貢獻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高機率 × 小獲利 → 穩定正貢獻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低機率 × 大損失 → 不穩定大額負貢獻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參數敏感度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低（歷史波動即可估好）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高：尾部機率最易被低估，期望值的主戰場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4340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01010"/>
                </a:solidFill>
                <a:latin typeface="微軟正黑體"/>
              </a:rPr>
              <a:t>為什麼是本週：</a:t>
            </a:r>
            <a:r>
              <a:rPr sz="1250" b="0">
                <a:solidFill>
                  <a:srgbClr val="2A2A2A"/>
                </a:solidFill>
                <a:latin typeface="微軟正黑體"/>
              </a:rPr>
              <a:t>6/22-26 半導體殺盤把存續 FCN 的 KI 緩衝一次吃掉一大截 — 期望值惡化不是票息變了，是 p(KI) 變了；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2A2A2A"/>
                </a:solidFill>
                <a:latin typeface="微軟正黑體"/>
              </a:rPr>
              <a:t>同時 VIX 回落至 16.59，新發行的票息原料（隱含波動）正在流失。存量與增量兩端都踩在框架要害上。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8064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699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機率估錯 2%（3% 估成 1%）× 損失 -40% = 期望值差 0.8pp — 對票息 6% 商品是重大差異。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一  本週市場總覽（FCN 視角）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295C"/>
                </a:solidFill>
                <a:latin typeface="微軟正黑體"/>
              </a:rPr>
              <a:t>波動率 — 票息的原料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51206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960120"/>
                <a:gridCol w="274320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指標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本週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FCN 意涵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VIX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16.59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殺盤週衝高後回落，票息壓縮中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9/18 升息機率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&lt;50%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非農後自 67% 退潮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美 10Y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~4.46%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FCN vs 直債比較基準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0896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Macro 事件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1. 6月非農 +57K vs ~110K，四個月最低；失業率 4.2%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2. 週一 SMH +3%、NDX +2.3% 技術性修復；Broadcom 指引下修餘波未平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3. Dow 首破 52,000；防禦板塊週漲 2%+；GOOGL 納入道瓊 +4.6%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4. 金價自 8 個月低點反彈站回 $4,100（升息預期退潮驅動）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5. 7/3 休市（7/4 週六）→ 本週 4 交易日即完整週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972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295C"/>
                </a:solidFill>
                <a:latin typeface="微軟正黑體"/>
              </a:rPr>
              <a:t>標的資產週表現（est. — Monday 校正）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463040"/>
          <a:ext cx="5394960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777240"/>
                <a:gridCol w="777240"/>
                <a:gridCol w="28803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標的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本週%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上週%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敘事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SMH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-6.50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週一 +3% 反彈後動能衰減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SOXX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-6.20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Q2 累漲 ~94% 後高位震盪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QQQ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-3.20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週四非農後 -0.8%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TSLA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+6.0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n/a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週一單日 +8.06% 領漲 Mag7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MU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-1.0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-8.50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記憶體供給過剩疑慮未消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NVDA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-3.00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反彈但量能不足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GLD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-4.80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站回 $4,100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TLT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+2.10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非農爆冷、殖利率回落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XLU/XLP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防禦輪動、Dow 52,000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0350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0985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反彈週 + vol 回落：存量 KI 壓力暫緩，但新發行票息窗口也在關閉 — 兩者都指向本期雙主軸。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三  主議題候選（3 選 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半導體 FCN 存量健檢 — 殺盤後 KI 緩衝重估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數據：MU 自高點 -13%、SOX -6.7% 後僅部分收復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標的：NVDA / AMD / MU / TSM ADR / SMH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殺盤前 spot 定價的存續 FCN，KI 距離被吃掉 1/3~1/2；p(KI) 上修直接拉低期望值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意義：盤點 5-6 月半導體 vintage；距 KI &lt;20% 列觀察名單，評估 restructure 或對沖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VIX 16.59 的發行時點課 — 波動率與票息窗口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數據：VIX 由殺盤週高點回落至 16.59，indicative 票息同步壓縮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標的：SMH / QQQ / NVDA 高 IV 族群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FCN 票息本質是賣 put 權利金，IV 是原料；平靜期發行 = 低價賣保險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意義：建立 vol 觸發式發行紀律（VIX&gt;22 或 IV 一年 75 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非農爆冷 × 升息預期退潮 — 利率/股權商品蹺蹺板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數據：9月升息機率 67% → &lt;50%；10Y ~4.46%；TLT +1.5% est.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標的：TLT / LQD / AGG vs 股權掛鉤 FCN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債券底層止穩、鎖息吸引力回升；equity vol 回落壓縮 FCN 票息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意義：KI 厭惡客戶的「直債 vs FCN」推薦順位需要重排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建議主議題 01：存量健檢最貼近法人客戶的當下痛點，且直接展演 p(KI) 重估如何改寫期望值。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三  補充議題候選（3 選 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黃金連結票據 — $4,100 反彈後 KI 緩衝重建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GLD +2.5% est.，金價自 8 個月低點反彈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止穩使黃金 FCN 的 KI 緩衝開始重建；但高盛 $4,900 目標下修在前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意義：已 KI 觀察名單的減壓評估；新發行等緩衝 &gt;25% 再進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防禦板塊 FCN — 低票息、低 p(KI) 的另一端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XLU/XLV/XLP 週漲 2%+，Dow 首破 52,000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低票息 × 低 KI 機率的組合：severity 端優勢，KI 後條件損失小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意義：KI 厭惡型客戶產品線；對照表說明「票息差距買的是什麼風險」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TSLA 單週 +8% — 高 IV 標的教材案例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TSLA 週一 +8.06% 領漲 Mag7，雙向波動極大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高 IV = 高票息 = 高 p(KI)：票息常為大盤標的 2-3 倍，但 KI 緩衝兩週可蒸發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意義：客戶教育素材 — 票息不是報酬率，是尾部風險的對價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5778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6413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建議搭配 05 + 06：一端展示低 KI 的代價（薄票息），一端展示高票息的代價（尾部）— 框架首尾呼應。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四  FCN 條款試算矩陣</a:t>
            </a:r>
            <a:r>
              <a:rPr sz="1200" b="0">
                <a:solidFill>
                  <a:srgbClr val="555555"/>
                </a:solidFill>
                <a:latin typeface="微軟正黑體"/>
              </a:rPr>
              <a:t>   illustrative · 非報價 · 6M / 月觀察 / KI 65% / KO 100%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965960"/>
                <a:gridCol w="640080"/>
                <a:gridCol w="1234440"/>
                <a:gridCol w="822960"/>
                <a:gridCol w="1143000"/>
                <a:gridCol w="4480560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標的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現況定位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IV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示意年化票息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KI 緩衝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近月最大回撤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期望值註記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MU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自高點 -13% 未收復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極高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~18-22%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-13%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一週吃掉 1/3 緩衝，p(KI) 全表最高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NVDA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反彈中，量能不足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~14-17%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-8%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票息肥但 AI 估值重設未完成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TSLA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週一 +8% 高波動雙向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極高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~18-24%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severity 與 frequency 雙高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TSM ADR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基本面最穩 Q1 +35% YoY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~10-13%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-6%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半導體中 p(KI) 相對低的核心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SMH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ETF 分散單一股風險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~9-12%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以 ETF 換單一股：severity 降檔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QQQ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指數級分散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~7-9%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票息薄但尾部最淺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GLD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8 個月低點反彈中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~6-8%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等緩衝重建 &gt;25% 再進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XLU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防禦輪動受惠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低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~4-6%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低票息低 KI：KI 厭惡客戶適配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票息由高 IV 單一股向低 IV 指數/防禦遞減，p(KI) 與條件損失同向遞減 — 票息差距買的是尾部風險。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四之二  同 K 對照 — 轉換機率 vs 預期損失</a:t>
            </a:r>
            <a:r>
              <a:rPr sz="1200" b="0">
                <a:solidFill>
                  <a:srgbClr val="555555"/>
                </a:solidFill>
                <a:latin typeface="微軟正黑體"/>
              </a:rPr>
              <a:t>   Monte Carlo · σ=40% · 6M · EKI 65% 到期觀察 · 非年化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675120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2286000"/>
                <a:gridCol w="822960"/>
                <a:gridCol w="2286000"/>
                <a:gridCol w="594360"/>
              </a:tblGrid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K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轉換機率  無KI → EKI 65%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降幅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預期損失  無KI → EKI 65%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降幅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A2A2A"/>
                          </a:solidFill>
                          <a:latin typeface="微軟正黑體"/>
                        </a:rPr>
                        <a:t>80%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23.6% → 7.3%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−69%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2.69% → 1.60%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−41%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A2A2A"/>
                          </a:solidFill>
                          <a:latin typeface="微軟正黑體"/>
                        </a:rPr>
                        <a:t>90%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38.1% → 7.3%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−81%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5.70% → 2.32%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−59%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A2A2A"/>
                          </a:solidFill>
                          <a:latin typeface="微軟正黑體"/>
                        </a:rPr>
                        <a:t>100%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52.8% → 7.3%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−86%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10.16% → 3.04%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−70%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246120"/>
            <a:ext cx="66751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機率降幅永遠 &gt; 預期損失降幅（差 16~28pp）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A2A2A"/>
                </a:solidFill>
                <a:latin typeface="微軟正黑體"/>
              </a:rPr>
              <a:t>EKI 刪掉的是高頻低損的淺層轉換（65%&lt;S&lt;K）：「次數」掉得快、「錢」掉得慢；深層情境（S&lt;65%）有無 EKI 損益完全相同 — 免小傷、不免大傷。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兩個降幅的差距 = severity 濃縮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A2A2A"/>
                </a:solidFill>
                <a:latin typeface="微軟正黑體"/>
              </a:rPr>
              <a:t>每 1% 轉換機率攜帶的預期損失上升：K=100% 時 19.6% → 42.4%，最低損失自 ~0% 跳到 K−KI = 35%。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34440"/>
            <a:ext cx="4206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295C"/>
                </a:solidFill>
                <a:latin typeface="微軟正黑體"/>
              </a:rPr>
              <a:t>轉換機率與 K 脫鉤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EKI 後三檔 K 都是 7.3% = P(S&lt;KI)。K 只剩「決定轉換深度」— EKI 讓 K 可以積極的機制；但 K 80→100% 預期損失僅 +1.44pp、懸崖 +20pp，對客戶是純 severity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295C"/>
                </a:solidFill>
                <a:latin typeface="微軟正黑體"/>
              </a:rPr>
              <a:t>溝通與比價各取一欄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「轉換機率 −86%」是賣點話術欄；「預期損失只 −70%、剩餘轉換深度翻倍」是完整敘述欄。預期損失欄 = 公平票息讓渡上限：票息差 &lt; 預期損失差 → 客戶在補貼發行端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295C"/>
                </a:solidFill>
                <a:latin typeface="微軟正黑體"/>
              </a:rPr>
              <a:t>觀察頻率是隱藏參數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KI 65% 改每日觀察觸發率 7.3%→~12.9%，且模型未含跳空（MU 單週 −13%）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EKI 買掉的是頻率、留下的是嚴重度：機率降幅與預期損失降幅之間的楔子，就是客戶承接的尾部。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四之三  六種組合的決策考量</a:t>
            </a:r>
            <a:r>
              <a:rPr sz="1200" b="0">
                <a:solidFill>
                  <a:srgbClr val="555555"/>
                </a:solidFill>
                <a:latin typeface="微軟正黑體"/>
              </a:rPr>
              <a:t>   列 = 有無 EKI · 欄 = K 檔位 · 票息為 6M 期望損失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3703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3703320" cy="3175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01010"/>
                </a:solidFill>
                <a:latin typeface="微軟正黑體"/>
              </a:rPr>
              <a:t>K=80% 無KI</a:t>
            </a:r>
            <a:r>
              <a:rPr sz="1200" b="1">
                <a:solidFill>
                  <a:srgbClr val="C88E10"/>
                </a:solidFill>
                <a:latin typeface="微軟正黑體"/>
              </a:rPr>
              <a:t>   2.69%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00295C"/>
                </a:solidFill>
                <a:latin typeface="微軟正黑體"/>
              </a:rPr>
              <a:t>中頻淺損 · 折價接股型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1368"/>
            <a:ext cx="3429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2A2A2A"/>
                </a:solidFill>
                <a:latin typeface="微軟正黑體"/>
              </a:rPr>
              <a:t>客戶願意在 80% 接這檔股票嗎？轉換是進場不是災難 — 標的選願意長抱的（TSM 型）；票息偏薄需跑贏直債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143000"/>
            <a:ext cx="3703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143000"/>
            <a:ext cx="3703320" cy="3175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234440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01010"/>
                </a:solidFill>
                <a:latin typeface="微軟正黑體"/>
              </a:rPr>
              <a:t>K=90% 無KI</a:t>
            </a:r>
            <a:r>
              <a:rPr sz="1200" b="1">
                <a:solidFill>
                  <a:srgbClr val="C88E10"/>
                </a:solidFill>
                <a:latin typeface="微軟正黑體"/>
              </a:rPr>
              <a:t>   5.70%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00295C"/>
                </a:solidFill>
                <a:latin typeface="微軟正黑體"/>
              </a:rPr>
              <a:t>高頻中損 · 持股替代型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801368"/>
            <a:ext cx="3429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2A2A2A"/>
                </a:solidFill>
                <a:latin typeface="微軟正黑體"/>
              </a:rPr>
              <a:t>轉換近四成 = 一年被轉換數次：接股後處置紀律與運營承受度？適合把 FCN 當持股策略的專業戶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143000"/>
            <a:ext cx="3703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0456" y="1143000"/>
            <a:ext cx="3703320" cy="3175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234440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01010"/>
                </a:solidFill>
                <a:latin typeface="微軟正黑體"/>
              </a:rPr>
              <a:t>K=100% 無KI</a:t>
            </a:r>
            <a:r>
              <a:rPr sz="1200" b="1">
                <a:solidFill>
                  <a:srgbClr val="C88E10"/>
                </a:solidFill>
                <a:latin typeface="微軟正黑體"/>
              </a:rPr>
              <a:t>   10.16%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00295C"/>
                </a:solidFill>
                <a:latin typeface="微軟正黑體"/>
              </a:rPr>
              <a:t>極高頻 · 建倉工具型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1801368"/>
            <a:ext cx="3429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2A2A2A"/>
                </a:solidFill>
                <a:latin typeface="微軟正黑體"/>
              </a:rPr>
              <a:t>轉換過半 = 票息補貼的定期建倉；唯一票息真實反映風險的一格。帳戶能否接股？當建倉工具賣、不當收益商品賣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3703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200400"/>
            <a:ext cx="370332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91840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01010"/>
                </a:solidFill>
                <a:latin typeface="微軟正黑體"/>
              </a:rPr>
              <a:t>K=80% + EKI 65%</a:t>
            </a:r>
            <a:r>
              <a:rPr sz="1200" b="1">
                <a:solidFill>
                  <a:srgbClr val="C88E10"/>
                </a:solidFill>
                <a:latin typeface="微軟正黑體"/>
              </a:rPr>
              <a:t>   1.60%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00295C"/>
                </a:solidFill>
                <a:latin typeface="微軟正黑體"/>
              </a:rPr>
              <a:t>低頻中損 · 過度保護型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58768"/>
            <a:ext cx="3429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2A2A2A"/>
                </a:solidFill>
                <a:latin typeface="微軟正黑體"/>
              </a:rPr>
              <a:t>商品成立性：雙重保護後票息可能跑不贏 IG 直債 — 若票息 &lt; 直債+流動性讓渡，該勸客戶直接買債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3200400"/>
            <a:ext cx="3703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3200400"/>
            <a:ext cx="370332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3291840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01010"/>
                </a:solidFill>
                <a:latin typeface="微軟正黑體"/>
              </a:rPr>
              <a:t>K=90% + EKI 65%</a:t>
            </a:r>
            <a:r>
              <a:rPr sz="1200" b="1">
                <a:solidFill>
                  <a:srgbClr val="C88E10"/>
                </a:solidFill>
                <a:latin typeface="微軟正黑體"/>
              </a:rPr>
              <a:t>   2.32%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00295C"/>
                </a:solidFill>
                <a:latin typeface="微軟正黑體"/>
              </a:rPr>
              <a:t>低頻深損 · 不上不下型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858768"/>
            <a:ext cx="3429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2A2A2A"/>
                </a:solidFill>
                <a:latin typeface="微軟正黑體"/>
              </a:rPr>
              <a:t>存在理由：比左格只多 0.72pp 票息、懸崖加深 10pp — 通常是行銷門檻而非風險最適；先回答為何不是左右兩格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0456" y="3200400"/>
            <a:ext cx="3703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0456" y="3200400"/>
            <a:ext cx="370332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3291840"/>
            <a:ext cx="3429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01010"/>
                </a:solidFill>
                <a:latin typeface="微軟正黑體"/>
              </a:rPr>
              <a:t>K=100% + EKI 65%</a:t>
            </a:r>
            <a:r>
              <a:rPr sz="1200" b="1">
                <a:solidFill>
                  <a:srgbClr val="C88E10"/>
                </a:solidFill>
                <a:latin typeface="微軟正黑體"/>
              </a:rPr>
              <a:t>   3.04%</a:t>
            </a:r>
          </a:p>
          <a:p>
            <a:pPr algn="l">
              <a:lnSpc>
                <a:spcPct val="110000"/>
              </a:lnSpc>
            </a:pPr>
            <a:r>
              <a:rPr sz="1000" b="1">
                <a:solidFill>
                  <a:srgbClr val="00295C"/>
                </a:solidFill>
                <a:latin typeface="微軟正黑體"/>
              </a:rPr>
              <a:t>低頻懸崖 · 賣相款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3858768"/>
            <a:ext cx="3429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2A2A2A"/>
                </a:solidFill>
                <a:latin typeface="微軟正黑體"/>
              </a:rPr>
              <a:t>考慮全在尾部：單一股跳空與財報、同標的結構集中度、KI 真發生時（−35% 起跳）客戶的行為劇本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五關 checklist：</a:t>
            </a:r>
            <a:r>
              <a:rPr sz="1050" b="0">
                <a:solidFill>
                  <a:srgbClr val="2A2A2A"/>
                </a:solidFill>
                <a:latin typeface="微軟正黑體"/>
              </a:rPr>
              <a:t>① 票息 ≥ 期望損失＋成本  ② 接股後劇本先寫好  ③ 標的×條款交互（MU 型不配深KI＋高K）  ④ 觀察條款（改每日觸發率近 ×2）  ⑤ IV 水位（VIX 16.59 → 六格全面偏薄，等 vol spike）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98932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0528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左欄（無KI）的考慮在「轉換後」、右欄（EKI）的考慮在「尾部」— 加不加 EKI 是選擇管理哪種問題，不是有沒有問題。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五  Monday 待決策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25880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624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議題組合確認：1 主 + 2 補充（建議 01 存量健檢 + 05 防禦對照 + 06 TSLA 教材）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892808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938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重抓 yfinance 校正全部 est. 數字（本週 4 交易日已完整）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459736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49631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存續 FCN 部位盤點：半導體單一股 vintage 清單 + 各筆距 KI 緩衝計算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026664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0632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向交易台索取 NVDA/MU/TSLA/TSM 6M ATM IV 與 indicative coupon，替換示意值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593592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3016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NLM saturation Round 1+ 加 Codex Gate 3 平行驗證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160520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寫 reading_map.md + 底稿.md（UWS 12 章節）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727448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build pptx/docx + lint_ryan_feedback 12 規則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294376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3095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Codex audit + persona pre-screen（法人機構讀者視角）＋ quality_report A++ 簽核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微軟正黑體"/>
              </a:rPr>
              <a:t>Generated 2026-07-03 | 國泰證券法人債券業務部 · 法人業務二處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3017520"/>
            <a:ext cx="2011680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</a:rPr>
              <a:t>FCN Weekly — KI/KO 期望值週報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B81C"/>
                </a:solidFill>
                <a:latin typeface="微軟正黑體"/>
              </a:rPr>
              <a:t>20260706 期  |  v0 partial scan  |  Monday 校正後定稿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E8E8E8"/>
                </a:solidFill>
                <a:latin typeface="微軟正黑體"/>
              </a:rPr>
              <a:t>本簡報之票息與條款均為示意，非報價；投資決策以正式產品文件為準。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