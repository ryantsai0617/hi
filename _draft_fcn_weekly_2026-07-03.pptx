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822960"/>
            <a:ext cx="10972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4000" b="1">
                <a:solidFill>
                  <a:srgbClr val="101010"/>
                </a:solidFill>
                <a:latin typeface="微軟正黑體"/>
              </a:rPr>
              <a:t>FCN Weekly — KI/KO 期望值週報</a:t>
            </a:r>
          </a:p>
          <a:p>
            <a:pPr algn="l">
              <a:lnSpc>
                <a:spcPct val="110000"/>
              </a:lnSpc>
            </a:pPr>
            <a:r>
              <a:rPr sz="1500" b="0">
                <a:solidFill>
                  <a:srgbClr val="555555"/>
                </a:solidFill>
                <a:latin typeface="微軟正黑體"/>
              </a:rPr>
              <a:t>20260706 期  |  週次 2026-06-29 ~ 2026-07-02  |  生成 2026-07-03（Fri）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1488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>
                <a:solidFill>
                  <a:srgbClr val="00295C"/>
                </a:solidFill>
                <a:latin typeface="微軟正黑體"/>
              </a:rPr>
              <a:t>E[FCN] = p(KO)×小獲利 + p(平安)×票息 + p(KI)×大損失</a:t>
            </a:r>
          </a:p>
          <a:p>
            <a:pPr algn="l">
              <a:lnSpc>
                <a:spcPct val="125000"/>
              </a:lnSpc>
            </a:pPr>
            <a:r>
              <a:rPr sz="1300" b="0">
                <a:solidFill>
                  <a:srgbClr val="2A2A2A"/>
                </a:solidFill>
                <a:latin typeface="微軟正黑體"/>
              </a:rPr>
              <a:t>發生機率與發生損失的差異，造成期望值的不同 — 存量健檢 × 發行時點雙主軸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291840"/>
            <a:ext cx="3566160" cy="182880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4747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軟正黑體"/>
              </a:rPr>
              <a:t>VIX 16.59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微軟正黑體"/>
              </a:rPr>
              <a:t>殺盤週衝高後回落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微軟正黑體"/>
              </a:rPr>
              <a:t>新發行票息原料流失中</a:t>
            </a:r>
          </a:p>
        </p:txBody>
      </p:sp>
      <p:sp>
        <p:nvSpPr>
          <p:cNvPr id="9" name="Rectangle 8"/>
          <p:cNvSpPr/>
          <p:nvPr/>
        </p:nvSpPr>
        <p:spPr>
          <a:xfrm>
            <a:off x="4434840" y="3291840"/>
            <a:ext cx="3566160" cy="18288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4747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101010"/>
                </a:solidFill>
                <a:latin typeface="微軟正黑體"/>
              </a:rPr>
              <a:t>非農 +57K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101010"/>
                </a:solidFill>
                <a:latin typeface="微軟正黑體"/>
              </a:rPr>
              <a:t>vs 預期 ~110K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101010"/>
                </a:solidFill>
                <a:latin typeface="微軟正黑體"/>
              </a:rPr>
              <a:t>9月升息機率 67% → &lt;50%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0" y="3291840"/>
            <a:ext cx="3566160" cy="1828800"/>
          </a:xfrm>
          <a:prstGeom prst="rect">
            <a:avLst/>
          </a:prstGeom>
          <a:solidFill>
            <a:srgbClr val="2A2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58200" y="3474720"/>
            <a:ext cx="310896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FFFFFF"/>
                </a:solidFill>
                <a:latin typeface="微軟正黑體"/>
              </a:rPr>
              <a:t>MU 高點 -13%</a:t>
            </a:r>
          </a:p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微軟正黑體"/>
              </a:rPr>
              <a:t>SOX 高點回落 -6.7%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微軟正黑體"/>
              </a:rPr>
              <a:t>存續 FCN 之 KI 緩衝被吃掉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555555"/>
                </a:solidFill>
                <a:latin typeface="微軟正黑體"/>
              </a:rPr>
              <a:t>⚠ v0 partial scan：yfinance 遭 proxy 封鎖，est. 數字以 WebSearch 新聞推算，Monday 校正。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555555"/>
                </a:solidFill>
                <a:latin typeface="微軟正黑體"/>
              </a:rPr>
              <a:t>本週僅 4 個交易日（7/3 休市、7/4 週六）→ Mon-Thu close 即完整週。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640080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00295C"/>
                </a:solidFill>
                <a:latin typeface="微軟正黑體"/>
              </a:rPr>
              <a:t>國泰證券法人債券業務部 · 法人業務二處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4864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〇  本期框架：KI/KO 期望值分解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00295C"/>
                </a:solidFill>
                <a:latin typeface="微軟正黑體"/>
              </a:rPr>
              <a:t>E[FCN] = p(KO) × (已收票息+提前出場) + p(平安到期) × (全期票息) + p(KI) × (已收票息 − 承接跌幅)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91640"/>
          <a:ext cx="10881360" cy="23774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54480"/>
                <a:gridCol w="4663440"/>
                <a:gridCol w="466344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</a:rPr>
                        <a:t>維度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</a:rPr>
                        <a:t>KO（敲出）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微軟正黑體"/>
                        </a:rPr>
                        <a:t>KI（敲入）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發生機率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高：障礙設在 spot 附近，正常波動即觸發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低：障礙設在深度價外（常見 60~70%）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發生損益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小額封頂（票息出場）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大額開放（跟跌現貨，理論可至 -100%）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期望值貢獻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高機率 × 小獲利 → 穩定正貢獻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低機率 × 大損失 → 不穩定大額負貢獻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150" b="1">
                          <a:solidFill>
                            <a:srgbClr val="2A2A2A"/>
                          </a:solidFill>
                          <a:latin typeface="微軟正黑體"/>
                        </a:rPr>
                        <a:t>參數敏感度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低（歷史波動即可估好）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>
                          <a:solidFill>
                            <a:srgbClr val="2A2A2A"/>
                          </a:solidFill>
                          <a:latin typeface="微軟正黑體"/>
                        </a:rPr>
                        <a:t>高：尾部機率最易被低估，期望值的主戰場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343400"/>
            <a:ext cx="108813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50" b="1">
                <a:solidFill>
                  <a:srgbClr val="101010"/>
                </a:solidFill>
                <a:latin typeface="微軟正黑體"/>
              </a:rPr>
              <a:t>為什麼是本週：</a:t>
            </a:r>
            <a:r>
              <a:rPr sz="1250" b="0">
                <a:solidFill>
                  <a:srgbClr val="2A2A2A"/>
                </a:solidFill>
                <a:latin typeface="微軟正黑體"/>
              </a:rPr>
              <a:t>6/22-26 半導體殺盤把存續 FCN 的 KI 緩衝一次吃掉一大截 — 期望值惡化不是票息變了，是 p(KI) 變了；</a:t>
            </a:r>
          </a:p>
          <a:p>
            <a:pPr algn="l">
              <a:lnSpc>
                <a:spcPct val="135000"/>
              </a:lnSpc>
            </a:pPr>
            <a:r>
              <a:rPr sz="1250" b="0">
                <a:solidFill>
                  <a:srgbClr val="2A2A2A"/>
                </a:solidFill>
                <a:latin typeface="微軟正黑體"/>
              </a:rPr>
              <a:t>同時 VIX 回落至 16.59，新發行的票息原料（隱含波動）正在流失。存量與增量兩端都踩在框架要害上。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80644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86994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機率估錯 2%（3% 估成 1%）× 損失 -40% = 期望值差 0.8pp — 對票息 6% 商品是重大差異。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一  本週市場總覽（FCN 視角）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097280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295C"/>
                </a:solidFill>
                <a:latin typeface="微軟正黑體"/>
              </a:rPr>
              <a:t>波動率 — 票息的原料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463040"/>
          <a:ext cx="5120640" cy="13716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17320"/>
                <a:gridCol w="960120"/>
                <a:gridCol w="2743200"/>
              </a:tblGrid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指標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本週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FCN 意涵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VIX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16.59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殺盤週衝高後回落，票息壓縮中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9/18 升息機率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&lt;50%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非農後自 67% 退潮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342900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美 10Y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~4.46%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FCN vs 直債比較基準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3108960"/>
            <a:ext cx="5120640" cy="3200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1">
                <a:solidFill>
                  <a:srgbClr val="00295C"/>
                </a:solidFill>
                <a:latin typeface="微軟正黑體"/>
              </a:rPr>
              <a:t>Macro 事件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1. 6月非農 +57K vs ~110K，四個月最低；失業率 4.2%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2. 週一 SMH +3%、NDX +2.3% 技術性修復；Broadcom 指引下修餘波未平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3. Dow 首破 52,000；防禦板塊週漲 2%+；GOOGL 納入道瓊 +4.6%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4. 金價自 8 個月低點反彈站回 $4,100（升息預期退潮驅動）</a:t>
            </a:r>
          </a:p>
          <a:p>
            <a:pPr algn="l">
              <a:lnSpc>
                <a:spcPct val="14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5. 7/3 休市（7/4 週六）→ 本週 4 交易日即完整週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097280"/>
            <a:ext cx="53949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>
                <a:solidFill>
                  <a:srgbClr val="00295C"/>
                </a:solidFill>
                <a:latin typeface="微軟正黑體"/>
              </a:rPr>
              <a:t>標的資產週表現（est. — Monday 校正）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126480" y="1463040"/>
          <a:ext cx="5394960" cy="42062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60120"/>
                <a:gridCol w="777240"/>
                <a:gridCol w="777240"/>
                <a:gridCol w="2880360"/>
              </a:tblGrid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標的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本週%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上週%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敘事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SMH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+1.8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-6.50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週一 +3% 反彈後動能衰減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SOXX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+1.5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-6.20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Q2 累漲 ~94% 後高位震盪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QQQ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+1.2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-3.20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週四非農後 -0.8%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TSLA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+6.0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n/a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週一單日 +8.06% 領漲 Mag7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MU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-1.0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-8.50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記憶體供給過剩疑慮未消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NVDA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+2.5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-3.00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反彈但量能不足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GLD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+2.5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A50B0B"/>
                          </a:solidFill>
                          <a:latin typeface="微軟正黑體"/>
                        </a:rPr>
                        <a:t>-4.80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站回 $4,100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TLT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+1.5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+2.10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非農爆冷、殖利率回落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2A2A2A"/>
                          </a:solidFill>
                          <a:latin typeface="微軟正黑體"/>
                        </a:rPr>
                        <a:t>XLU/XLP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+2.0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00" b="0">
                          <a:solidFill>
                            <a:srgbClr val="1A6E1A"/>
                          </a:solidFill>
                          <a:latin typeface="微軟正黑體"/>
                        </a:rPr>
                        <a:t>+1.4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0">
                          <a:solidFill>
                            <a:srgbClr val="2A2A2A"/>
                          </a:solidFill>
                          <a:latin typeface="微軟正黑體"/>
                        </a:rPr>
                        <a:t>防禦輪動、Dow 52,000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Rectangle 10"/>
          <p:cNvSpPr/>
          <p:nvPr/>
        </p:nvSpPr>
        <p:spPr>
          <a:xfrm>
            <a:off x="640080" y="603504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09854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反彈週 + vol 回落：存量 KI 壓力暫緩，但新發行票息窗口也在關閉 — 兩者都指向本期雙主軸。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三  主議題候選（3 選 1）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703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半導體 FCN 存量健檢 — 殺盤後 KI 緩衝重估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47672"/>
            <a:ext cx="333756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數據：MU 自高點 -13%、SOX -6.7% 後僅部分收復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標的：NVDA / AMD / MU / TSM ADR / SMH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殺盤前 spot 定價的存續 FCN，KI 距離被吃掉 1/3~1/2；p(KI) 上修直接拉低期望值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意義：盤點 5-6 月半導體 vintage；距 KI &lt;20% 列觀察名單，評估 restructure 或對沖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234440"/>
            <a:ext cx="3703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VIX 16.59 的發行時點課 — 波動率與票息窗口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47672"/>
            <a:ext cx="333756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數據：VIX 由殺盤週高點回落至 16.59，indicative 票息同步壓縮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標的：SMH / QQQ / NVDA 高 IV 族群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FCN 票息本質是賣 put 權利金，IV 是原料；平靜期發行 = 低價賣保險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意義：建立 vol 觸發式發行紀律（VIX&gt;22 或 IV 一年 75 分位）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234440"/>
            <a:ext cx="3703320" cy="43891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非農爆冷 × 升息預期退潮 — 利率/股權商品蹺蹺板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947672"/>
            <a:ext cx="3337560" cy="3520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數據：9月升息機率 67% → &lt;50%；10Y ~4.46%；TLT +1.5% est.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標的：TLT / LQD / AGG vs 股權掛鉤 FCN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債券底層止穩、鎖息吸引力回升；equity vol 回落壓縮 FCN 票息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意義：KI 厭惡客戶的「直債 vs FCN」推薦順位需要重排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94360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00710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建議主議題 01：存量健檢最貼近法人客戶的當下痛點，且直接展演 p(KI) 重估如何改寫期望值。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三  補充議題候選（3 選 2）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1234440"/>
            <a:ext cx="3703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67512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黃金連結票據 — $4,100 反彈後 KI 緩衝重建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1947672"/>
            <a:ext cx="33375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GLD +2.5% est.，金價自 8 個月低點反彈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止穩使黃金 FCN 的 KI 緩衝開始重建；但高盛 $4,900 目標下修在前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意義：已 KI 觀察名單的減壓評估；新發行等緩衝 &gt;25% 再進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361688" y="1234440"/>
            <a:ext cx="3703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30368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防禦板塊 FCN — 低票息、低 p(KI) 的另一端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1947672"/>
            <a:ext cx="33375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XLU/XLV/XLP 週漲 2%+，Dow 首破 52,000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低票息 × 低 KI 機率的組合：severity 端優勢，KI 後條件損失小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意義：KI 厭惡型客戶產品線；對照表說明「票息差距買的是什麼風險」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0456" y="1234440"/>
            <a:ext cx="3703320" cy="3931920"/>
          </a:xfrm>
          <a:prstGeom prst="rect">
            <a:avLst/>
          </a:prstGeom>
          <a:solidFill>
            <a:srgbClr val="FFFFFF"/>
          </a:solidFill>
          <a:ln w="12700">
            <a:solidFill>
              <a:srgbClr val="C8C8C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85048" y="1344168"/>
            <a:ext cx="685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C88E10"/>
                </a:solidFill>
                <a:latin typeface="微軟正黑體"/>
              </a:rPr>
              <a:t>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89136" y="1380744"/>
            <a:ext cx="26517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50" b="1">
                <a:solidFill>
                  <a:srgbClr val="101010"/>
                </a:solidFill>
                <a:latin typeface="微軟正黑體"/>
              </a:rPr>
              <a:t>TSLA 單週 +8% — 高 IV 標的教材案例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85048" y="1947672"/>
            <a:ext cx="3337560" cy="3063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TSLA 週一 +8.06% 領漲 Mag7，雙向波動極大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高 IV = 高票息 = 高 p(KI)：票息常為大盤標的 2-3 倍，但 KI 緩衝兩週可蒸發</a:t>
            </a:r>
          </a:p>
          <a:p>
            <a:pPr algn="l">
              <a:lnSpc>
                <a:spcPct val="125000"/>
              </a:lnSpc>
            </a:pPr>
            <a:r>
              <a:rPr sz="1050" b="1">
                <a:solidFill>
                  <a:srgbClr val="00295C"/>
                </a:solidFill>
                <a:latin typeface="微軟正黑體"/>
              </a:rPr>
              <a:t>意義：客戶教育素材 — 票息不是報酬率，是尾部風險的對價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57784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564134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建議搭配 05 + 06：一端展示低 KI 的代價（薄票息），一端展示高票息的代價（尾部）— 框架首尾呼應。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四  FCN 條款試算矩陣</a:t>
            </a:r>
            <a:r>
              <a:rPr sz="1200" b="0">
                <a:solidFill>
                  <a:srgbClr val="555555"/>
                </a:solidFill>
                <a:latin typeface="微軟正黑體"/>
              </a:rPr>
              <a:t>   illustrative · 非報價 · 6M / 月觀察 / KI 65% / KO 100%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11201400" cy="42976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914400"/>
                <a:gridCol w="1965960"/>
                <a:gridCol w="640080"/>
                <a:gridCol w="1234440"/>
                <a:gridCol w="822960"/>
                <a:gridCol w="1143000"/>
                <a:gridCol w="4480560"/>
              </a:tblGrid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標的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現況定位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IV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示意年化票息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KI 緩衝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近月最大回撤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微軟正黑體"/>
                        </a:rPr>
                        <a:t>期望值註記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MU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自高點 -13% 未收復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極高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~18-22%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-13%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一週吃掉 1/3 緩衝，p(KI) 全表最高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NVDA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反彈中，量能不足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高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~14-17%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-8%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票息肥但 AI 估值重設未完成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TSLA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週一 +8% 高波動雙向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極高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~18-24%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severity 與 frequency 雙高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TSM ADR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基本面最穩 Q1 +35% YoY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~10-13%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-6%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半導體中 p(KI) 相對低的核心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SMH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ETF 分散單一股風險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中高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~9-12%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-7%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以 ETF 換單一股：severity 降檔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QQQ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指數級分散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~7-9%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票息薄但尾部最淺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GLD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8 個月低點反彈中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中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~6-8%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等緩衝重建 &gt;25% 再進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77520"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2A2A2A"/>
                          </a:solidFill>
                          <a:latin typeface="微軟正黑體"/>
                        </a:rPr>
                        <a:t>XLU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防禦輪動受惠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低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~4-6%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35%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0">
                          <a:solidFill>
                            <a:srgbClr val="A50B0B"/>
                          </a:solidFill>
                          <a:latin typeface="微軟正黑體"/>
                        </a:rPr>
                        <a:t>-3%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0">
                          <a:solidFill>
                            <a:srgbClr val="2A2A2A"/>
                          </a:solidFill>
                          <a:latin typeface="微軟正黑體"/>
                        </a:rPr>
                        <a:t>低票息低 KI：KI 厭惡客戶適配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640080" y="594360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600710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票息由高 IV 單一股向低 IV 指數/防禦遞減，p(KI) 與條件損失同向遞減 — 票息差距買的是尾部風險。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四之二  同 K 對照 — 轉換機率 vs 預期損失</a:t>
            </a:r>
            <a:r>
              <a:rPr sz="1200" b="0">
                <a:solidFill>
                  <a:srgbClr val="555555"/>
                </a:solidFill>
                <a:latin typeface="微軟正黑體"/>
              </a:rPr>
              <a:t>   Monte Carlo · σ=40% · 6M · EKI 65% 到期觀察 · 非年化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02920" y="1234440"/>
          <a:ext cx="6675120" cy="17373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685800"/>
                <a:gridCol w="2286000"/>
                <a:gridCol w="822960"/>
                <a:gridCol w="2286000"/>
                <a:gridCol w="594360"/>
              </a:tblGrid>
              <a:tr h="434340"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K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轉換機率  無KI → EKI 65%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降幅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預期損失  無KI → EKI 65%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050" b="1">
                          <a:solidFill>
                            <a:srgbClr val="FFFFFF"/>
                          </a:solidFill>
                          <a:latin typeface="微軟正黑體"/>
                        </a:rPr>
                        <a:t>降幅</a:t>
                      </a:r>
                    </a:p>
                  </a:txBody>
                  <a:tcPr marL="45720" marR="45720" marT="18288" marB="18288">
                    <a:solidFill>
                      <a:srgbClr val="00295C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A2A2A"/>
                          </a:solidFill>
                          <a:latin typeface="微軟正黑體"/>
                        </a:rPr>
                        <a:t>80%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23.6% → 7.3%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−69%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2.69% → 1.60%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−41%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A2A2A"/>
                          </a:solidFill>
                          <a:latin typeface="微軟正黑體"/>
                        </a:rPr>
                        <a:t>90%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38.1% → 7.3%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−81%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5.70% → 2.32%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−59%</a:t>
                      </a:r>
                    </a:p>
                  </a:txBody>
                  <a:tcPr marL="45720" marR="45720" marT="18288" marB="18288">
                    <a:solidFill>
                      <a:srgbClr val="F5F5F5"/>
                    </a:solidFill>
                  </a:tcPr>
                </a:tc>
              </a:tr>
              <a:tr h="434340">
                <a:tc>
                  <a:txBody>
                    <a:bodyPr/>
                    <a:lstStyle/>
                    <a:p>
                      <a:pPr algn="r"/>
                      <a:r>
                        <a:rPr sz="1200" b="1">
                          <a:solidFill>
                            <a:srgbClr val="2A2A2A"/>
                          </a:solidFill>
                          <a:latin typeface="微軟正黑體"/>
                        </a:rPr>
                        <a:t>100%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52.8% → 7.3%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−86%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10.16% → 3.04%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200" b="0">
                          <a:solidFill>
                            <a:srgbClr val="2A2A2A"/>
                          </a:solidFill>
                          <a:latin typeface="微軟正黑體"/>
                        </a:rPr>
                        <a:t>−70%</a:t>
                      </a:r>
                    </a:p>
                  </a:txBody>
                  <a:tcPr marL="45720" marR="45720" marT="18288" marB="18288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02920" y="3246120"/>
            <a:ext cx="667512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295C"/>
                </a:solidFill>
                <a:latin typeface="微軟正黑體"/>
              </a:rPr>
              <a:t>機率降幅永遠 &gt; 預期損失降幅（差 16~28pp）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A2A2A"/>
                </a:solidFill>
                <a:latin typeface="微軟正黑體"/>
              </a:rPr>
              <a:t>EKI 刪掉的是高頻低損的淺層轉換（65%&lt;S&lt;K）：「次數」掉得快、「錢」掉得慢；深層情境（S&lt;65%）有無 EKI 損益完全相同 — 免小傷、不免大傷。</a:t>
            </a:r>
          </a:p>
          <a:p>
            <a:pPr algn="l">
              <a:lnSpc>
                <a:spcPct val="130000"/>
              </a:lnSpc>
            </a:pPr>
            <a:r>
              <a:rPr sz="1300" b="1">
                <a:solidFill>
                  <a:srgbClr val="00295C"/>
                </a:solidFill>
                <a:latin typeface="微軟正黑體"/>
              </a:rPr>
              <a:t>兩個降幅的差距 = severity 濃縮</a:t>
            </a:r>
          </a:p>
          <a:p>
            <a:pPr algn="l">
              <a:lnSpc>
                <a:spcPct val="130000"/>
              </a:lnSpc>
            </a:pPr>
            <a:r>
              <a:rPr sz="1100" b="0">
                <a:solidFill>
                  <a:srgbClr val="2A2A2A"/>
                </a:solidFill>
                <a:latin typeface="微軟正黑體"/>
              </a:rPr>
              <a:t>每 1% 轉換機率攜帶的預期損失上升：K=100% 時 19.6% → 42.4%，最低損失自 ~0% 跳到 K−KI = 35%。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52360" y="1234440"/>
            <a:ext cx="420624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295C"/>
                </a:solidFill>
                <a:latin typeface="微軟正黑體"/>
              </a:rPr>
              <a:t>轉換機率與 K 脫鉤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EKI 後三檔 K 都是 7.3% = P(S&lt;KI)。K 只剩「決定轉換深度」— EKI 讓 K 可以積極的機制；但 K 80→100% 預期損失僅 +1.44pp、懸崖 +20pp，對客戶是純 severity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295C"/>
                </a:solidFill>
                <a:latin typeface="微軟正黑體"/>
              </a:rPr>
              <a:t>溝通與比價各取一欄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「轉換機率 −86%」是賣點話術欄；「預期損失只 −70%、剩餘轉換深度翻倍」是完整敘述欄。預期損失欄 = 公平票息讓渡上限：票息差 &lt; 預期損失差 → 客戶在補貼發行端</a:t>
            </a:r>
          </a:p>
          <a:p>
            <a:pPr algn="l">
              <a:lnSpc>
                <a:spcPct val="125000"/>
              </a:lnSpc>
            </a:pPr>
            <a:r>
              <a:rPr sz="1200" b="1">
                <a:solidFill>
                  <a:srgbClr val="00295C"/>
                </a:solidFill>
                <a:latin typeface="微軟正黑體"/>
              </a:rPr>
              <a:t>觀察頻率是隱藏參數</a:t>
            </a:r>
          </a:p>
          <a:p>
            <a:pPr algn="l">
              <a:lnSpc>
                <a:spcPct val="125000"/>
              </a:lnSpc>
            </a:pPr>
            <a:r>
              <a:rPr sz="1050" b="0">
                <a:solidFill>
                  <a:srgbClr val="2A2A2A"/>
                </a:solidFill>
                <a:latin typeface="微軟正黑體"/>
              </a:rPr>
              <a:t>KI 65% 改每日觀察觸發率 7.3%→~12.9%，且模型未含跳空（MU 單週 −13%）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5943600"/>
            <a:ext cx="10881360" cy="3175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6007100"/>
            <a:ext cx="10881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>
                <a:solidFill>
                  <a:srgbClr val="C88E10"/>
                </a:solidFill>
                <a:latin typeface="微軟正黑體"/>
              </a:rPr>
              <a:t>BOTTOM LINE  </a:t>
            </a:r>
            <a:r>
              <a:rPr sz="1050" b="1">
                <a:solidFill>
                  <a:srgbClr val="2A2A2A"/>
                </a:solidFill>
                <a:latin typeface="微軟正黑體"/>
              </a:rPr>
              <a:t>EKI 買掉的是頻率、留下的是嚴重度：機率降幅與預期損失降幅之間的楔子，就是客戶承接的尾部。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0029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36576"/>
            <a:ext cx="822960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微軟正黑體"/>
              </a:rPr>
              <a:t>STRUCTURED PRODUCTS  |  FCN WEEKLY | KI/KO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247120" y="36576"/>
            <a:ext cx="640080" cy="25603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/>
            <a:r>
              <a:rPr sz="1100" b="1">
                <a:solidFill>
                  <a:srgbClr val="FFB81C"/>
                </a:solidFill>
                <a:latin typeface="微軟正黑體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0292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>
                <a:solidFill>
                  <a:srgbClr val="101010"/>
                </a:solidFill>
                <a:latin typeface="微軟正黑體"/>
              </a:rPr>
              <a:t>五  Monday 待決策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1325880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25880" y="136245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議題組合確認：1 主 + 2 補充（建議 01 存量健檢 + 05 防禦對照 + 06 TSLA 教材）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1892808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929384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重抓 yfinance 校正全部 est. 數字（本週 4 交易日已完整）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2459736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25880" y="249631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存續 FCN 部位盤點：半導體單一股 vintage 清單 + 各筆距 KI 緩衝計算</a:t>
            </a:r>
          </a:p>
        </p:txBody>
      </p:sp>
      <p:sp>
        <p:nvSpPr>
          <p:cNvPr id="12" name="Oval 11"/>
          <p:cNvSpPr/>
          <p:nvPr/>
        </p:nvSpPr>
        <p:spPr>
          <a:xfrm>
            <a:off x="731520" y="3026664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25880" y="3063240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向交易台索取 NVDA/MU/TSLA/TSM 6M ATM IV 與 indicative coupon，替換示意值</a:t>
            </a:r>
          </a:p>
        </p:txBody>
      </p:sp>
      <p:sp>
        <p:nvSpPr>
          <p:cNvPr id="14" name="Oval 13"/>
          <p:cNvSpPr/>
          <p:nvPr/>
        </p:nvSpPr>
        <p:spPr>
          <a:xfrm>
            <a:off x="731520" y="3593592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630168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NLM saturation Round 1+ 加 Codex Gate 3 平行驗證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4160520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寫 reading_map.md + 底稿.md（UWS 12 章節）</a:t>
            </a:r>
          </a:p>
        </p:txBody>
      </p:sp>
      <p:sp>
        <p:nvSpPr>
          <p:cNvPr id="18" name="Oval 17"/>
          <p:cNvSpPr/>
          <p:nvPr/>
        </p:nvSpPr>
        <p:spPr>
          <a:xfrm>
            <a:off x="731520" y="4727448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7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25880" y="4764024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build pptx/docx + lint_ryan_feedback 12 規則</a:t>
            </a:r>
          </a:p>
        </p:txBody>
      </p:sp>
      <p:sp>
        <p:nvSpPr>
          <p:cNvPr id="20" name="Oval 19"/>
          <p:cNvSpPr/>
          <p:nvPr/>
        </p:nvSpPr>
        <p:spPr>
          <a:xfrm>
            <a:off x="731520" y="5294376"/>
            <a:ext cx="384048" cy="384048"/>
          </a:xfrm>
          <a:prstGeom prst="ellipse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101010"/>
                </a:solidFill>
                <a:latin typeface="Calibri"/>
              </a:rPr>
              <a:t>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25880" y="5330952"/>
            <a:ext cx="10241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>
                <a:solidFill>
                  <a:srgbClr val="2A2A2A"/>
                </a:solidFill>
                <a:latin typeface="微軟正黑體"/>
              </a:rPr>
              <a:t>Codex audit + persona pre-screen（法人機構讀者視角）＋ quality_report A++ 簽核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6309360"/>
            <a:ext cx="109728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50" b="0">
                <a:solidFill>
                  <a:srgbClr val="555555"/>
                </a:solidFill>
                <a:latin typeface="微軟正黑體"/>
              </a:rPr>
              <a:t>Generated 2026-07-03 | 國泰證券法人債券業務部 · 法人業務二處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01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3017520"/>
            <a:ext cx="2011680" cy="38100"/>
          </a:xfrm>
          <a:prstGeom prst="rect">
            <a:avLst/>
          </a:prstGeom>
          <a:solidFill>
            <a:srgbClr val="FFB8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246120"/>
            <a:ext cx="1088136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3000" b="1">
                <a:solidFill>
                  <a:srgbClr val="FFFFFF"/>
                </a:solidFill>
                <a:latin typeface="微軟正黑體"/>
              </a:rPr>
              <a:t>FCN Weekly — KI/KO 期望值週報</a:t>
            </a:r>
          </a:p>
          <a:p>
            <a:pPr algn="l">
              <a:lnSpc>
                <a:spcPct val="150000"/>
              </a:lnSpc>
            </a:pPr>
            <a:r>
              <a:rPr sz="1400" b="0">
                <a:solidFill>
                  <a:srgbClr val="FFB81C"/>
                </a:solidFill>
                <a:latin typeface="微軟正黑體"/>
              </a:rPr>
              <a:t>20260706 期  |  v0 partial scan  |  Monday 校正後定稿</a:t>
            </a:r>
          </a:p>
          <a:p>
            <a:pPr algn="l">
              <a:lnSpc>
                <a:spcPct val="150000"/>
              </a:lnSpc>
            </a:pPr>
            <a:r>
              <a:rPr sz="1100" b="0">
                <a:solidFill>
                  <a:srgbClr val="E8E8E8"/>
                </a:solidFill>
                <a:latin typeface="微軟正黑體"/>
              </a:rPr>
              <a:t>本簡報之票息與條款均為示意，非報價；投資決策以正式產品文件為準。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