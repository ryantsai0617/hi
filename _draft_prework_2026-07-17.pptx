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1B4F5A"/>
                </a:solidFill>
                <a:latin typeface="Calibri"/>
                <a:ea typeface="微軟正黑體"/>
              </a:rPr>
              <a:t>美股 ETF 週報 — Friday topic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  <a:ea typeface="微軟正黑體"/>
              </a:rPr>
              <a:t>20260720 期 · 涵蓋 2026-07-13 ~ 2026-07-17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v0 partial scan · Mon-Thu close (4 trading days) · Monday 重抓含週五 close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8087" y="3657600"/>
            <a:ext cx="3108960" cy="201168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808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UCO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08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+24.50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08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本週最強反彈 · 2x 原油 Hormuz 衝擊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1367" y="3657600"/>
            <a:ext cx="3108960" cy="2011680"/>
          </a:xfrm>
          <a:prstGeom prst="round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136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SLV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-5.00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本週最強下殺 · 白銀避險退潮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647" y="3657600"/>
            <a:ext cx="3108960" cy="2011680"/>
          </a:xfrm>
          <a:prstGeom prst="round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64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64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+5.20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地緣反彈 · 航太防務受惠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2026-07-17 · 國泰證券法人債券業務部 · 法人業務二處 · Friday topic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2468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400" b="1">
                <a:solidFill>
                  <a:srgbClr val="FFFFFF"/>
                </a:solidFill>
                <a:latin typeface="Calibri"/>
                <a:ea typeface="微軟正黑體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754880"/>
            <a:ext cx="1371600" cy="914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4008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微軟正黑體"/>
              </a:rPr>
              <a:t>反轉訊號 · Reversal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  <a:ea typeface="微軟正黑體"/>
              </a:rPr>
              <a:t>2026-07-17 · 國泰證券法人債券業務部 · 法人業務二處 · Friday topic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反轉訊號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 partial vs 上週、Top 10 反彈（綠）+ Top 10 反向下殺（紅）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97280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B4F5A"/>
                </a:solidFill>
                <a:latin typeface="Calibri"/>
                <a:ea typeface="微軟正黑體"/>
              </a:rPr>
              <a:t>最強反彈：UCO +24.5 pp（本週 +16.00% / 上週 -8.50%）　|　最猛下殺：SLV -5.0 pp（本週 -2.00% / 上週 +3.00%）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2026-07-17 · 國泰證券法人債券業務部 · 法人業務二處 · Friday topic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主議題候選 · Top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敘事最強、優先選為主議題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13868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A 伊朗-荷莫茲能源衝擊 — 原油 ETF 急漲格局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核心：WTI +11%+ 週漲 · UCO +16% · XOP +9.5% · 荷莫茲通行量腰斬 7艘/天　·　相關 ETF：UCO, XOP, USO, XLE, BNO, IEO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driver：美伊互擊升溫 + Basra 油輪受無人機攻擊 + 伊拉克裝載暫停 → 真實供應中斷　·　對台灣機構意義：台灣100%能源進口，UCO/XOP 可作能源 beta 對沖工具；台電/CPC 成本壓力直連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87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87040"/>
            <a:ext cx="182880" cy="13868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78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B TSMC 77%財報爆發 vs 半導體股價異常下殺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89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核心：TSMC Q2 EPS +77% YoY · 股價當日 -4% · Micron -13% · SMH 月初 -8.5%　·　相關 ETF：SMH, SOXX, IGV, ARKQ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5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driver：市場預期過高 + AI 資本支出疑慮 + 記憶體股成本恐慌　·　對台灣機構意義：台積電是台灣機構最核心持股，Earnings Sell-the-news 現象值得深度解析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11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511040"/>
            <a:ext cx="182880" cy="13868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02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C 黃金高位修正 — Fed 鷹派 vs 中東避險溢價的糾結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13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核心：GLD -1.5% · GDX -0.5% · 現價~$4,038 vs ATH $5,595 (-28%)　·　相關 ETF：GLD, GDX, SLV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79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driver：Warsh 鷹派重申 + 7/29 FOMC 前觀望 + 9月升息機率44% + 油漲推通膨預期　·　對台灣機構意義：台灣機構黃金配置偏低，高位修正是否提供建倉時點值得評估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2026-07-17 · 國泰證券法人債券業務部 · 法人業務二處 · Friday topic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補充議題候選 · Top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補充視角、選 2 個搭配主議題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D 航太防務 ETF — 地緣衝突持久化受惠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核心：ITA +4.2% · 反轉 +5.2 (前週 -1.0%)　·　相關 ETF：ITA, BOTZ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driver：美伊衝突長期化 + 美國防預算 AI 化趨勢　·　對台灣機構意義：台灣地緣安全溢價上升，防務 ETF 作為尾部風險對沖工具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E 美元走強 vs 新興市場 EM 重定價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核心：EMB -1.5% · EEM 承壓 · 美元 DXY 走強　·　相關 ETF：EMB, EEM, INDA, EWZ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driver：油漲→通膨預期升→殖利率上升→美元強→新興市場資金外流　·　對台灣機構意義：台灣機構 EM 配置需審視，EMB 信用利差擴大值得警戒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182880" cy="7772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F 天然氣 + 中游能源 — LNG 供應鏈重組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核心：UNG +4.8% · AMLP +4.5% · 荷莫茲外溢 LNG　·　相關 ETF：UNG, AMLP, IEO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driver：Hormuz 封鎖溢出 LNG 定價，中東天然氣出口路線重組　·　對台灣機構意義：台灣電力 LNG 依存度高，LNG 定價風險直接衝擊台電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G 固定收益全面承壓 — 通膨預期重燃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核心：TLT -1.8% · AGG -0.8% · IEF -1.2% · LQD -0.9% 同步走弱　·　相關 ETF：TLT, IEF, AGG, LQD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driver：油價→CPI 預期升溫→殖利率 spike→全債券類評價壓力　·　對台灣機構意義：台灣機構債券配置面臨評價壓力，存續期管理優先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H 清潔能源反向下殺 — ICLN 政策不確定性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核心：ICLN -1.5% (前週 +2.0%) · 反轉 -3.5　·　相關 ETF：ICLN, ARKK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driver：油價強勢降低再生能源政策推動動力 + Trump 政策不確定性　·　對台灣機構意義：ESG 配置需重評，短期能源傳統 vs 清潔能源分化加大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2026-07-17 · 國泰證券法人債券業務部 · 法人業務二處 · Friday topic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能源 / 商品 · Hormuz 供應衝擊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ProShares 2x 原油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+16.00%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-8.50%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+28.5%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高 Beta 最強反彈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USO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United States Oil Fund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+10.80%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-5.00%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+14.2%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WTI 直接指標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 Brent Oil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+9.20%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+16.8%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中東定價基準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XOP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S&amp;P Oil &amp; Gas E&amp;P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+9.50%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-5.50%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+22.3%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高 Beta 股票端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Energy Select SPDR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+7.20%</a:t>
                      </a:r>
                    </a:p>
                  </a:txBody>
                  <a:tcPr>
                    <a:solidFill>
                      <a:srgbClr val="AFCAA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+18.5%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一站式能源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IEO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US Oil &amp; Gas E&amp;P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+8.10%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-4.00%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+19.4%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純 E&amp;P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 Natural Gas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+4.80%</a:t>
                      </a:r>
                    </a:p>
                  </a:txBody>
                  <a:tcPr>
                    <a:solidFill>
                      <a:srgbClr val="C2D9C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+6.2%</a:t>
                      </a:r>
                    </a:p>
                  </a:txBody>
                  <a:tcPr>
                    <a:solidFill>
                      <a:srgbClr val="B7D0B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LNG 溢出效應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AMLP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Alerian MLP ETF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+4.50%</a:t>
                      </a:r>
                    </a:p>
                  </a:txBody>
                  <a:tcPr>
                    <a:solidFill>
                      <a:srgbClr val="C4DAC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-2.50%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+11.3%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中游穩定分紅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2026-07-17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半導體 / 避險資產 · 雙向壓力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SMH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VanEck Semiconductor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-2.00%</a:t>
                      </a:r>
                    </a:p>
                  </a:txBody>
                  <a:tcPr>
                    <a:solidFill>
                      <a:srgbClr val="F9D5D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-8.50%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+28.5%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反彈訊號觀察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SOXX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Semiconductor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-2.50%</a:t>
                      </a:r>
                    </a:p>
                  </a:txBody>
                  <a:tcPr>
                    <a:solidFill>
                      <a:srgbClr val="F8D1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-9.20%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+25.3%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美股半導體純粹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TLT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20+ Year Treasury Bond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-1.80%</a:t>
                      </a:r>
                    </a:p>
                  </a:txBody>
                  <a:tcPr>
                    <a:solidFill>
                      <a:srgbClr val="FAD7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-8.5%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殖利率敏感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IEF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7-10 Year Treasury Bond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-1.20%</a:t>
                      </a:r>
                    </a:p>
                  </a:txBody>
                  <a:tcPr>
                    <a:solidFill>
                      <a:srgbClr val="FBDC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+1.00%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-4.2%</a:t>
                      </a:r>
                    </a:p>
                  </a:txBody>
                  <a:tcPr>
                    <a:solidFill>
                      <a:srgbClr val="F5C4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中段存續期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SPDR Gold Shares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-1.50%</a:t>
                      </a:r>
                    </a:p>
                  </a:txBody>
                  <a:tcPr>
                    <a:solidFill>
                      <a:srgbClr val="FA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+32.5%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高位修正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GDX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VanEck Gold Miners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-0.50%</a:t>
                      </a:r>
                    </a:p>
                  </a:txBody>
                  <a:tcPr>
                    <a:solidFill>
                      <a:srgbClr val="FCE1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+1.80%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+28.1%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礦業 beta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EMB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JP Morgan USD EM Bond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-1.50%</a:t>
                      </a:r>
                    </a:p>
                  </a:txBody>
                  <a:tcPr>
                    <a:solidFill>
                      <a:srgbClr val="FA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+2.3%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EM 風險情緒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ITA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US Aerospace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+4.20%</a:t>
                      </a:r>
                    </a:p>
                  </a:txBody>
                  <a:tcPr>
                    <a:solidFill>
                      <a:srgbClr val="C7DC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-1.00%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+12.3%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地緣反彈受惠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2026-07-17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Macro 事件 + A 級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本週主要 catalyst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📌 Macro 事件本週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美伊互擊升溫：US 再度打擊伊朗油輸設施，Basra 油輪遭無人機，荷莫茲航運量 13→7 艘/天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TSMC Q2 EPS +77% YoY，但股當日 -4%；Micron -13%，記憶體股崩跌觸發廣泛半導體拋售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WTI 原油週漲 +11%+ (~$79/桶)；Brent ~$80；EIA 庫存偏低加劇供應恐慌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黃金 ~$4,038/oz，距 1月 ATH $5,595 下跌 28%；Warsh 鷹派言論壓制；7/29 FOMC 前觀望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S&amp;P 500 +0.38% 週漲 (7,572)；Nasdaq +0.62%；忽略地緣衝突、企業財報 Q2 EPS &gt;20% 預估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Fed 9月升息機率降至 44%（軟 CPI 數據），但油漲通膨預期重燃，殖利率同步上揚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📚 A 級 research（本週）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21208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(本週無重要 A 級 research、或 yfinance scan 未觸發)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2026-07-17 · 國泰證券法人債券業務部 · 法人業務二處 · Friday topic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Monday 20260720 待決策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週一早上接續、預估 2-2.5 hr 全套完成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議題組合確認：1 主 (A能源衝擊優先) + 2 補充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重抓 yfinance 含週五 close (5 trading days 完整週資料)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889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saturation Round 1 加 Codex Gate 3 平行驗證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寫 reading_map.md + 底稿.md (UWS 12 章節)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776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build docx + lint_ryan_feedback 12 規則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Studio Path A + B + Codex Path C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663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Codex audit + persona pre-screen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7607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quality_report A++ 簽核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2026-07-17 · 國泰證券法人債券業務部 · 法人業務二處 · Friday topic preview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