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400" b="1">
                <a:solidFill>
                  <a:srgbClr val="1B4F5A"/>
                </a:solidFill>
                <a:latin typeface="Calibri"/>
                <a:ea typeface="微軟正黑體"/>
              </a:rPr>
              <a:t>美股 ETF 週報 — Friday topic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  <a:latin typeface="Calibri"/>
                <a:ea typeface="微軟正黑體"/>
              </a:rPr>
              <a:t>20260727 期 · 涵蓋 2026-07-20 ~ 2026-07-24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v0 估算 · yfinance 403 封鎖，數據基於 WebSearch 宏觀主題估算 · Monday 重抓含週五 close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8087" y="3657600"/>
            <a:ext cx="3108960" cy="2011680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808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UCO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08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+11.5%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08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2× WTI 反彈王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1367" y="3657600"/>
            <a:ext cx="3108960" cy="2011680"/>
          </a:xfrm>
          <a:prstGeom prst="round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136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ARKK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-4.8%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AI創新反向下殺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4647" y="3657600"/>
            <a:ext cx="3108960" cy="2011680"/>
          </a:xfrm>
          <a:prstGeom prst="round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64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XOP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64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+5.1%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64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油氣E&amp;P 本週最強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2026-07-24 · 國泰證券法人債券業務部 · 法人業務二處 · Friday topic 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3657600" cy="2468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400" b="1">
                <a:solidFill>
                  <a:srgbClr val="FFFFFF"/>
                </a:solidFill>
                <a:latin typeface="Calibri"/>
                <a:ea typeface="微軟正黑體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754880"/>
            <a:ext cx="1371600" cy="914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640080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  <a:ea typeface="微軟正黑體"/>
              </a:rPr>
              <a:t>反轉訊號 · Reversal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  <a:ea typeface="微軟正黑體"/>
              </a:rPr>
              <a:t>2026-07-24 · 國泰證券法人債券業務部 · 法人業務二處 · Friday topic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反轉訊號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本週 partial vs 上週、Top 10 反彈（綠）+ Top 10 反向下殺（紅）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097280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B4F5A"/>
                </a:solidFill>
                <a:latin typeface="Calibri"/>
                <a:ea typeface="微軟正黑體"/>
              </a:rPr>
              <a:t>最強反彈：UCO +12.3 pp（本週 +11.50% / 上週 -0.80%）　|　最猛下殺：UBOT -10.0 pp（本週 -9.20% / 上週 +0.80%）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2026-07-24 · 國泰證券法人債券業務部 · 法人業務二處 · Friday topic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主議題候選 · Top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敘事最強、優先選為主議題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" cy="138684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M1 · 能源反彈與霍爾木茲風險溢價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核心：WTI +6%→$92，UCO +11.5%，XOP +5.1%，XLE +4.7%　·　相關 ETF：XLE, XOP, USO, BNO, IEO, AMLP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driver：Trump/伊朗霍爾木茲封鎖威脅；哈薩克管線受無人機攻擊；能源板塊從超賣急彈　·　對台灣機構意義：能源ETF為天然通膨對沖，AMLP中游管線提供股息保護，本週急彈為機構切入點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87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87040"/>
            <a:ext cx="182880" cy="13868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78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M2 · 科技AI盈餘下殺：Alphabet -7%/Tesla -14%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89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核心：XLC -3.2%，ARKK -4.8%，QQQ -2.5%，S&amp;P500 週四-1.2%　·　相關 ETF：QQQ, XLC, ARKK, IGV, IVW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55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driver：Alphabet AI CapEx 大幅擴張但獲利未跟上；科技巨頭估值面臨重估壓力　·　對台灣機構意義：科技成長ETF動能反轉，機構可評估防禦性切換（XLV/XLP）或分批承接時機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11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511040"/>
            <a:ext cx="182880" cy="13868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02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M3 · TSMC +36%銷售 vs. 記憶體崩跌：半導體大分化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13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核心：TSMC YTD+52%，AMD YTD+150% vs NVDA+13%，SMH/SOXX 訊號衝突　·　相關 ETF：SMH, SOXX, XLK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79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driver：TSMC先進製程AI需求旺盛；記憶體供過於求崩跌；AI CapEx削減疑慮壓制記憶體族群　·　對台灣機構意義：台機構對半導體ETF有天然認識優勢，SMH/SOXX拆解成分股可識別差異化機會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2026-07-24 · 國泰證券法人債券業務部 · 法人業務二處 · Friday topic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補充議題候選 · Top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補充視角、選 2 個搭配主議題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" cy="7772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S1 · 黃金失速：CPI 4.2%+Fed Hold→貴金屬多頭終結？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核心：GLD ~$4,140，較1月高$5,598下跌26%，Fed 7/29 hold機率87%　·　相關 ETF：GLD, SLV, GDX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driver：美國CPI 4.2%達三年高點，升息預期壓制黃金；但地緣風險形成部分支撐　·　對台灣機構意義：黃金從避險偏好→利率敏感品種轉變，機構可評估壓低成本入場點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182880" cy="7772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S2 · S&amp;P 500 盈餘季V型底 or 二次修正？7/29 Fed決議前不確定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核心：S&amp;P 500 ~7,408，週線-1%，Fed 7/29決議待確認　·　相關 ETF：SPY, RSP, IVW, 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driver：大型科技盈餘不如預期但其他板塊穩健，指數與等權重走勢分化　·　對台灣機構意義：SPY vs RSP等權重策略比較，機構思考集中度風險管理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91840"/>
            <a:ext cx="182880" cy="77724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S3 · 中東地緣防禦受益：軍工 ITA 逆勢走強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核心：ITA 預估本週+2~3%，國防ETF受益地緣升溫　·　相關 ETF：ITA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driver：美國強硬表態伊朗+霍爾木茲；國防預算擴張邏輯延續；與能源M1形成地緣完整性　·　對台灣機構意義：防禦型板塊補充配置，低相關性提升組合韌性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182880" cy="7772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S4 · AI機器人ETF崩跌後危機入市：BOTZ/UBOT暴跌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核心：UBOT -9.2%，BOTZ -3.5%，ARKQ -4.1%（週線）　·　相關 ETF：BOTZ, ROBO, UBOT, ARKQ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driver：Alphabet過度AI支出擔憂波及AI ETF；但AI應用落地基本面未改變　·　對台灣機構意義：AI主題ETF急跌後評估長期布局時點，與M2配對討論攻守策略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206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182880" cy="7772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S5 · 新興市場分化：FXI中國反彈 vs. 美元強勢壓制EEM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235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核心：美元偏強（通膨+Fed hold）；FXI受中國刺激政策支撐　·　相關 ETF：FXI, EEM, INDA, EWZ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893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driver：美元偏強壓制廣泛新興市場；中國政策刺激+地緣緩和期待支撐FXI個別機會　·　對台灣機構意義：新興市場ETF選擇性布局，FXI vs EEM策略分化討論視角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2026-07-24 · 國泰證券法人債券業務部 · 法人業務二處 · Friday topic preview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ETF 矩陣 — 能源板塊 ETF 矩陣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一週% 含正負色標、YTD% 含絕對值色標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代號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全名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一週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YTD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角色定位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Energy Select Sector SPDR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+4.7</a:t>
                      </a:r>
                    </a:p>
                  </a:txBody>
                  <a:tcPr>
                    <a:solidFill>
                      <a:srgbClr val="C3D9C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+5.4</a:t>
                      </a:r>
                    </a:p>
                  </a:txBody>
                  <a:tcPr>
                    <a:solidFill>
                      <a:srgbClr val="BDD5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大型能源廣泛配置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XOP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SPDR S&amp;P Oil &amp; Gas E&amp;P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+5.1</a:t>
                      </a:r>
                    </a:p>
                  </a:txBody>
                  <a:tcPr>
                    <a:solidFill>
                      <a:srgbClr val="C0D7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-1.2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+3.9</a:t>
                      </a:r>
                    </a:p>
                  </a:txBody>
                  <a:tcPr>
                    <a:solidFill>
                      <a:srgbClr val="C9DE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油氣探勘生產高β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 Oil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+6.2</a:t>
                      </a:r>
                    </a:p>
                  </a:txBody>
                  <a:tcPr>
                    <a:solidFill>
                      <a:srgbClr val="B7D0B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-7.8</a:t>
                      </a:r>
                    </a:p>
                  </a:txBody>
                  <a:tcPr>
                    <a:solidFill>
                      <a:srgbClr val="EEA7A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WTI現貨追蹤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BNO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 Brent Oil Fund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+5.9</a:t>
                      </a:r>
                    </a:p>
                  </a:txBody>
                  <a:tcPr>
                    <a:solidFill>
                      <a:srgbClr val="B9D2B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-0.3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-6.5</a:t>
                      </a:r>
                    </a:p>
                  </a:txBody>
                  <a:tcPr>
                    <a:solidFill>
                      <a:srgbClr val="F0B1B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布蘭特原油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US Oil &amp; Gas E&amp;P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+4.2</a:t>
                      </a:r>
                    </a:p>
                  </a:txBody>
                  <a:tcPr>
                    <a:solidFill>
                      <a:srgbClr val="C7DCC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+3.8</a:t>
                      </a:r>
                    </a:p>
                  </a:txBody>
                  <a:tcPr>
                    <a:solidFill>
                      <a:srgbClr val="CADFC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油氣E&amp;P中型股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AMLP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Alerian MLP ETF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+3.8</a:t>
                      </a:r>
                    </a:p>
                  </a:txBody>
                  <a:tcPr>
                    <a:solidFill>
                      <a:srgbClr val="CADFC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-0.1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+12.3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中游管線MLP高股息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2× WTI Oil (Leveraged)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+11.5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-18.4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槓桿短期動能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2026-07-24 · 國泰證券法人債券業務部 · 法人業務二處 · Friday topic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ETF 矩陣 — 科技 / AI 板塊 ETF 矩陣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一週% 含正負色標、YTD% 含絕對值色標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代號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全名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一週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YTD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角色定位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QQQ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Invesco Nasdaq-100 ETF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-2.5</a:t>
                      </a:r>
                    </a:p>
                  </a:txBody>
                  <a:tcPr>
                    <a:solidFill>
                      <a:srgbClr val="F8D1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+15.8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科技廣泛核心配置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XLC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Comm Services Select SPDR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-3.2</a:t>
                      </a:r>
                    </a:p>
                  </a:txBody>
                  <a:tcPr>
                    <a:solidFill>
                      <a:srgbClr val="F7CC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+1.8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+14.5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Alphabet/Meta重倉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ARKK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ARK Innovation ETF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-4.8</a:t>
                      </a:r>
                    </a:p>
                  </a:txBody>
                  <a:tcPr>
                    <a:solidFill>
                      <a:srgbClr val="F4BF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+25.3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顛覆式創新高β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IGV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Expanded Tech-SW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-3.0</a:t>
                      </a:r>
                    </a:p>
                  </a:txBody>
                  <a:tcPr>
                    <a:solidFill>
                      <a:srgbClr val="F7CD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+1.5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+16.8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軟體ETF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SMH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VanEck Semiconductor ETF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+0.8</a:t>
                      </a:r>
                    </a:p>
                  </a:txBody>
                  <a:tcPr>
                    <a:solidFill>
                      <a:srgbClr val="E2F1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+22.4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半導體廣泛(TSMC受益)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SOXX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Semiconductor ETF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+0.5</a:t>
                      </a:r>
                    </a:p>
                  </a:txBody>
                  <a:tcPr>
                    <a:solidFill>
                      <a:srgbClr val="E4F2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-0.8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+19.8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半導體(美國製程)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BOTZ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Global X Robotics &amp; AI ETF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-3.5</a:t>
                      </a:r>
                    </a:p>
                  </a:txBody>
                  <a:tcPr>
                    <a:solidFill>
                      <a:srgbClr val="F6C9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+12.4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機器人/AI主題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2026-07-24 · 國泰證券法人債券業務部 · 法人業務二處 · Friday topic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Macro 事件 + A 級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本週主要 catalyst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B7A78"/>
                </a:solidFill>
                <a:latin typeface="Calibri"/>
                <a:ea typeface="微軟正黑體"/>
              </a:rPr>
              <a:t>📌 Macro 事件本週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WTI 衝破 $92/桶：Trump 警告伊朗霍爾木茲、哈薩克管線受攻，石油供應雙重衝擊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Alphabet -7%、Tesla -14%：AI CapEx 擔憂引爆科技盈餘季，S&amp;P 500 週四 -1.2%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TSMC Q2 銷售年增 +36% 超預期，YTD +52%，但記憶體股崩跌，半導體ETF訊號分化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黃金 ~$4,140（較1月高 $5,598 跌 26%），CPI 4.2% 三年高點，Fed 7/29 hold 機率 87%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美股週線收跌 ~1%：能源板塊逆勢大漲，成長/科技全面賣壓，資金輪動加速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AMD YTD +150% vs NVDA +13%，P/E 差距極大（~175× vs 32×），AI股估值重估開始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B7A78"/>
                </a:solidFill>
                <a:latin typeface="Calibri"/>
                <a:ea typeface="微軟正黑體"/>
              </a:rPr>
              <a:t>📚 A 級 research（本週）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21208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(本週無重要 A 級 research、或 yfinance scan 未觸發)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2026-07-24 · 國泰證券法人債券業務部 · 法人業務二處 · Friday topic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Monday 20260727 待決策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週一早上接續、預估 2-2.5 hr 全套完成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0020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議題組合確認：1 主 + 2 補充（建議 M1+S1+S2 或 M2+S4+S3）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重抓 yfinance 含週五 close（5 trading days 完整週，修正估算數據）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889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NLM saturation Round 1+ 加 Codex Gate 3 平行驗證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8328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寫 reading_map.md + 底稿.md（UWS 12 章節）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776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build docx + lint_ryan_feedback 12 規則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7200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NLM Studio Path A + B + Codex Path C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663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Codex audit + persona pre-screen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76072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quality_report A++ 簽核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2026-07-24 · 國泰證券法人債券業務部 · 法人業務二處 · Friday topic preview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