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400" b="1">
                <a:solidFill>
                  <a:srgbClr val="1B4F5A"/>
                </a:solidFill>
                <a:latin typeface="Calibri"/>
                <a:ea typeface="微軟正黑體"/>
              </a:rPr>
              <a:t>美股 ETF 週報 — Friday topic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A1A1A"/>
                </a:solidFill>
                <a:latin typeface="Calibri"/>
                <a:ea typeface="微軟正黑體"/>
              </a:rPr>
              <a:t>20260615 期 · 涵蓋 2026-06-08 ~ 2026-06-12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v0 partial scan · Mon-Thu close (4 trading days) · Monday 重抓含週五 close · yfinance blocked, 數值為 news-based 估值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8087" y="3657600"/>
            <a:ext cx="3108960" cy="2011680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808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SOXX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08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+2.80%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08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半導體反攻 · YTD +86.8%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1367" y="3657600"/>
            <a:ext cx="3108960" cy="2011680"/>
          </a:xfrm>
          <a:prstGeom prst="round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136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UCO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-5.50%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油市下殺 · OPEC+ 第4次增產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4647" y="3657600"/>
            <a:ext cx="3108960" cy="2011680"/>
          </a:xfrm>
          <a:prstGeom prst="round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64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GLD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64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-2.80%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64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黃金急殺 · 降息夢碎 FOMC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2026-06-12 · 國泰證券法人債券業務部 · 法人業務二處 · Friday topic 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3657600" cy="24688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400" b="1">
                <a:solidFill>
                  <a:srgbClr val="FFFFFF"/>
                </a:solidFill>
                <a:latin typeface="Calibri"/>
                <a:ea typeface="微軟正黑體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754880"/>
            <a:ext cx="1371600" cy="914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0"/>
            <a:ext cx="640080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  <a:ea typeface="微軟正黑體"/>
              </a:rPr>
              <a:t>反轉訊號 · Reversal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  <a:ea typeface="微軟正黑體"/>
              </a:rPr>
              <a:t>2026-06-12 · 國泰證券法人債券業務部 · 法人業務二處 · Friday topic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反轉訊號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本週 partial vs 上週、Top 10 反彈（綠）+ Top 10 反向下殺（紅）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097280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B4F5A"/>
                </a:solidFill>
                <a:latin typeface="Calibri"/>
                <a:ea typeface="微軟正黑體"/>
              </a:rPr>
              <a:t>最強反彈：QQQ +7.4 pp（本週 +1.50% / 上週 -5.90%）　|　最猛下殺：UCO -13.5 pp（本週 -5.50% / 上週 +8.00%）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2026-06-12 · 國泰證券法人債券業務部 · 法人業務二處 · Friday topic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主議題候選 · Top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敘事最強、優先選為主議題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" cy="138684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A. 半導體 / Mega-cap 科技大反攻 — QQQ 反轉 +7.4pp、SMH YTD +64%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核心：SOXX +2.8% (YTD +86.8%) · SMH +2.5% · QQQ +1.5% (reversal +7.4pp)　·　相關 ETF：SMH, SOXX, QQQ, XLK, THNQ, AIQ, IGV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driver：科技從 6/2 ATH 急殺後 recovery；Israel-Iran 緩和；AI 需求敘事 intact (NVDA 5/28 EPS +8%)　·　對台灣機構意義：TSMC ADR 連動 SOXX；半導體供應鏈台廠 ETF 曝險說明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87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87040"/>
            <a:ext cx="182880" cy="13868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78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B. OPEC+ 第4次增產衝擊 — 油市反轉急殺，UCO reversal -13.5pp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89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核心：UCO -5.5% (上週+8.0%) · USO -4.0% · WTI $85.94 (Apr 以來最低)　·　相關 ETF：USO, BNO, UCO, XOP, XLE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55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driver：OPEC+ 7國 Jun 7 宣布 188K bpd 增產 + Hormuz 緩和傳言 → 供給逆轉　·　對台灣機構意義：台灣能源進口成本降、通膨預期鬆動；油能源 ETF 多空切換點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11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511040"/>
            <a:ext cx="182880" cy="13868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02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C. Fed 升息擔憂重燃 + 黃金急殺 — FOMC 6/16-17 Kevin Warsh 首次主持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13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核心：GLD -2.8% · GDX -4.5% · Gold spot $4,162 (-2.4%) · 升息機率重評　·　相關 ETF：GLD, GDX, SLV, TLT, TIP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79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driver：5月就業+17.2萬超預期 → Goldman 移除2026降息預期 → 97%預期 hold　·　對台灣機構意義：黃金避險邏輯受壓；TLT長債配置重評；USD強勢壓新興市場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2026-06-12 · 國泰證券法人債券業務部 · 法人業務二處 · Friday topic 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補充議題候選 · Top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補充視角、選 2 個搭配主議題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" cy="7772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D. QQQ 離 ATH 仍 -7% — 動能 vs. 估值拉鋸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核心：QQQ ATH $746.16 (Jun 2) → Jun 10 $693.70 (-7.0%)　·　相關 ETF：QQQ, SOXX, IGV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driver：AI 敘事 intact 但估值高位；FOMC 升息風險壓制 multiple expansion　·　對台灣機構意義：半導體 ETF 進場時點再評估、波動率上升環境下的配置策略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182880" cy="7772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E. Biotech 補漲 — XBI reversal +4.5pp，落後類股輪動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核心：XBI +2.0% (前週 -2.5%) reversal +4.5pp；IBB 類似　·　相關 ETF：XBI, IBB, XLV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driver：科技漲後輪動；FDA pipeline 催化劑；估值相對低　·　對台灣機構意義：防禦性生技 ETF 配置機會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91840"/>
            <a:ext cx="182880" cy="77724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F. 新興市場輪動 — 油降通膨+美元逆轉觀察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核心：EEM / EWJ 跟漲；油降利亞洲進口國　·　相關 ETF：EEM, EWJ, INDA, VGK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driver：FOMC 後美元可能逆轉；油降通膨改善；資金輪動亞洲信號　·　對台灣機構意義：亞洲 ETF 配置加碼時機；台股外資動向關聯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062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182880" cy="7772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G. ITA 國防 ETF 地緣議題持續 — Hormuz 仍封鎖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091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核心：ITA YTD ~+28%；Hormuz 封鎖第 3+ 月仍在　·　相關 ETF：ITA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749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driver：中東衝突未落幕；美國國防支出持續；Hormuz 緩和預期但風險未消　·　對台灣機構意義：地緣緊張長線下的防禦配置邏輯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206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182880" cy="7772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120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H. 防禦類股反弱 — XLU/XLP 與科技分化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235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核心：XLU 本週弱；narrow leadership 集中 AI/半導體　·　相關 ETF：XLU, XLP, RSP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893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driver：升息預期壓防禦類股評價；等權 RSP 跑輸 cap-weight SPY　·　對台灣機構意義：Cap-weight bias 配置檢視；防禦 ETF 時機再評估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2026-06-12 · 國泰證券法人債券業務部 · 法人業務二處 · Friday topic preview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ETF 矩陣 — 半導體 / AI / 科技反攻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一週% 含正負色標、YTD% 含絕對值色標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代號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全名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一週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上週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YTD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角色定位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SMH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VanEck 半導體（含 TSM）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+2.50%</a:t>
                      </a:r>
                    </a:p>
                  </a:txBody>
                  <a:tcPr>
                    <a:solidFill>
                      <a:srgbClr val="D4E6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+64.1%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本週主議題核心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SOXX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半導體純美股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+2.80%</a:t>
                      </a:r>
                    </a:p>
                  </a:txBody>
                  <a:tcPr>
                    <a:solidFill>
                      <a:srgbClr val="D2E5D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-2.50%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+86.8%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YTD 冠軍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QQQ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Nasdaq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+1.50%</a:t>
                      </a:r>
                    </a:p>
                  </a:txBody>
                  <a:tcPr>
                    <a:solidFill>
                      <a:srgbClr val="DCEC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-5.90%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+33.3%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最大反轉 +7.4pp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THNQ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ROBO Global AI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+1.80%</a:t>
                      </a:r>
                    </a:p>
                  </a:txBody>
                  <a:tcPr>
                    <a:solidFill>
                      <a:srgbClr val="DAEB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-2.50%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+28.5%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AI pure play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Global X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+1.70%</a:t>
                      </a:r>
                    </a:p>
                  </a:txBody>
                  <a:tcPr>
                    <a:solidFill>
                      <a:srgbClr val="DBEBD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+21.4%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AI 廣泛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XLK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科技類股 SPDR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+1.50%</a:t>
                      </a:r>
                    </a:p>
                  </a:txBody>
                  <a:tcPr>
                    <a:solidFill>
                      <a:srgbClr val="DCEC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-2.80%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+18.5%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大型科技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IGV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軟體 ETF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+1.50%</a:t>
                      </a:r>
                    </a:p>
                  </a:txBody>
                  <a:tcPr>
                    <a:solidFill>
                      <a:srgbClr val="DCEC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+31.2%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SaaS 軟體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ARKK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ARK Innovation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+2.20%</a:t>
                      </a:r>
                    </a:p>
                  </a:txBody>
                  <a:tcPr>
                    <a:solidFill>
                      <a:srgbClr val="D7E8D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-4.00%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+8.5%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高 Beta 反彈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S&amp;P 500 SPDR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+1.20%</a:t>
                      </a:r>
                    </a:p>
                  </a:txBody>
                  <a:tcPr>
                    <a:solidFill>
                      <a:srgbClr val="DFEE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+25.0%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大盤參照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2026-06-12 · 國泰證券法人債券業務部 · 法人業務二處 · Friday topic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ETF 矩陣 — 商品 / 能源 / 黃金下殺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一週% 含正負色標、YTD% 含絕對值色標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代號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全名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一週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上週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YTD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角色定位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ProShares 2x WTI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-5.50%</a:t>
                      </a:r>
                    </a:p>
                  </a:txBody>
                  <a:tcPr>
                    <a:solidFill>
                      <a:srgbClr val="F2B9B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+8.00%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+55.2%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最猛下殺 -13.5pp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BNO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Brent 期貨 ETF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-4.80%</a:t>
                      </a:r>
                    </a:p>
                  </a:txBody>
                  <a:tcPr>
                    <a:solidFill>
                      <a:srgbClr val="F4BF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+7.50%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+48.5%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Hormuz 指標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WTI 期貨 ETF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-4.00%</a:t>
                      </a:r>
                    </a:p>
                  </a:txBody>
                  <a:tcPr>
                    <a:solidFill>
                      <a:srgbClr val="F5C5C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+6.50%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+52.1%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油市反轉標竿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XOP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油氣 E&amp;P SPDR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-3.50%</a:t>
                      </a:r>
                    </a:p>
                  </a:txBody>
                  <a:tcPr>
                    <a:solidFill>
                      <a:srgbClr val="F6C9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+5.50%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+22.3%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高 Beta 能源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綜合能源 SPDR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-2.80%</a:t>
                      </a:r>
                    </a:p>
                  </a:txBody>
                  <a:tcPr>
                    <a:solidFill>
                      <a:srgbClr val="F8CF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+15.8%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能源龍頭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GDX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VanEck 黃金礦業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-4.50%</a:t>
                      </a:r>
                    </a:p>
                  </a:txBody>
                  <a:tcPr>
                    <a:solidFill>
                      <a:srgbClr val="F4C1C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+2.50%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+22.8%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金礦 leveraged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GLD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SPDR 黃金實體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-2.80%</a:t>
                      </a:r>
                    </a:p>
                  </a:txBody>
                  <a:tcPr>
                    <a:solidFill>
                      <a:srgbClr val="F8CF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+55.7%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黃金避險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SLV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白銀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-3.50%</a:t>
                      </a:r>
                    </a:p>
                  </a:txBody>
                  <a:tcPr>
                    <a:solidFill>
                      <a:srgbClr val="F6C9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+1.80%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+48.2%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工業+避險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TLT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20+ 年公債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-0.80%</a:t>
                      </a:r>
                    </a:p>
                  </a:txBody>
                  <a:tcPr>
                    <a:solidFill>
                      <a:srgbClr val="FCDF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-3.5%</a:t>
                      </a:r>
                    </a:p>
                  </a:txBody>
                  <a:tcPr>
                    <a:solidFill>
                      <a:srgbClr val="F6C9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利率方向燈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2026-06-12 · 國泰證券法人債券業務部 · 法人業務二處 · Friday topic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Macro 事件 + A 級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本週主要 catalyst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B7A78"/>
                </a:solidFill>
                <a:latin typeface="Calibri"/>
                <a:ea typeface="微軟正黑體"/>
              </a:rPr>
              <a:t>📌 Macro 事件本週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Hormuz 海峽封鎖第 3+ 月（自 2/28）— EIA 估 Brent $105 維持至 Jun-Jul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OPEC+ 第 4 次增產 (Jun 7) — 7 國增 188K bpd from Jul；WTI $85.94 (Apr 以來最低)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美國 5 月就業 +17.2 萬（預期 8 萬）— Goldman 移除 2026 全部降息預期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Gold spot $4,162 (-2.4% Jun 10) — 能源 CPI +23.5% YoY；Fed hold 97% 機率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FOMC 6/16-17 — Kevin Warsh 任主席後首次會議；升息路徑重評啟動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Israel-Iran 緊張稍緩（週一正面消息）— 但 Hormuz 仍封鎖、地緣風險未消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B7A78"/>
                </a:solidFill>
                <a:latin typeface="Calibri"/>
                <a:ea typeface="微軟正黑體"/>
              </a:rPr>
              <a:t>📚 A 級 research（本週）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21208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(本週無重要 A 級 research、或 yfinance scan 未觸發)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2026-06-12 · 國泰證券法人債券業務部 · 法人業務二處 · Friday topic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Monday 20260615 待決策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週一早上接續、預估 2-2.5 hr 全套完成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0020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議題組合確認：1 主 + 2 補充（建議主議題 A 或 B）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重抓 yfinance 含週五 6/12 close (5 trading days 完整週)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889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NLM saturation Round 1+ 加 Codex Gate 3 平行驗證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8328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寫 reading_map.md + 底稿.md (UWS 12 章節)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776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build docx + lint_ryan_feedback 12 規則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7200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NLM Studio Path A + B + Codex Path C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6636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Codex audit + persona pre-screen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76072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quality_report A++ 簽核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2026-06-12 · 國泰證券法人債券業務部 · 法人業務二處 · Friday topic preview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