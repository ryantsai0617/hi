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1B4F5A"/>
                </a:solidFill>
                <a:latin typeface="Calibri"/>
                <a:ea typeface="微軟正黑體"/>
              </a:rPr>
              <a:t>美股 ETF 週報 — Friday topic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  <a:ea typeface="微軟正黑體"/>
              </a:rPr>
              <a:t>20260810 期 · 涵蓋 2026-08-03 ~ 2026-08-07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v0 partial scan · Mon–Thu close (4 trading days) · yfinance proxy封鎖 → WebSearch估算 · Monday 重抓含週五 close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8087" y="3657600"/>
            <a:ext cx="3108960" cy="201168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808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SMH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08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08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反彈王 · 半導體AI周期確認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1367" y="3657600"/>
            <a:ext cx="3108960" cy="2011680"/>
          </a:xfrm>
          <a:prstGeom prst="round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KRE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-1.2%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反向下殺 · 區域銀行持息弱勢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647" y="3657600"/>
            <a:ext cx="3108960" cy="2011680"/>
          </a:xfrm>
          <a:prstGeom prst="round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64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BOTZ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64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AI機器人 · 本週最強主題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2026-08-07 · 國泰證券法人債券業務部 · 法人業務二處 · Friday topic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400" b="1">
                <a:solidFill>
                  <a:srgbClr val="FFFFFF"/>
                </a:solidFill>
                <a:latin typeface="Calibri"/>
                <a:ea typeface="微軟正黑體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1371600" cy="914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微軟正黑體"/>
              </a:rPr>
              <a:t>反轉訊號 ·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2026-08-07 · 國泰證券法人債券業務部 · 法人業務二處 · Friday topic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反轉訊號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 partial vs 上週、Top 10 反彈（綠）+ Top 10 反向下殺（紅）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7280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最強反彈：SMH +5.9 pp（本週 +3.10% / 上週 -2.80%）　|　最猛下殺：KRE -2.7 pp（本週 -1.20% / 上週 +1.50%）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2026-08-07 · 國泰證券法人債券業務部 · 法人業務二處 · Friday topic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主議題候選 · Top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敘事最強、優先選為主議題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13868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半導體 AI 需求爆量 — 新一輪周期確認？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核心：SMH rev+5.9 / SOXX rev+5.3 / BOTZ rev+5.7；全球半導體銷售 $120.6B YoY+104%　·　相關 ETF：SMH · SOXX · BOTZ · AIQ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driver：TSMC Q3指引+12% QoQ；Broadcom AI revenue +200%+；Druckenmiller 加倉 TSMC　·　對台灣機構意義：台灣科技股直接連動；SMH/SOXX 是法人配置 AI 的主要流動性工具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87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87040"/>
            <a:ext cx="182880" cy="13868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78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Hormuz 地緣油價急漲 — 能源 ETF 反轉週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9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核心：XOP rev+3.7 / BNO rev+3.9 / XLE rev+3.3；Brent $83 (+4% WoW)　·　相關 ETF：XLE · XOP · BNO · USO · IEO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5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driver：伊朗議會草案禁止美以船隻過境 Hormuz；OPEC 減產疊加地緣溢價爆發　·　對台灣機構意義：台灣進口能源成本風險；XLE/XOP 提供能源 β 曝險對沖工具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11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11040"/>
            <a:ext cx="182880" cy="13868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02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聯準會持息尾部效應 — 黃金礦重新定價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13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核心：GDX rev+4.3 (+2.8%)；黃金 $4,102 (+1.9% post-hold)；JPM 年底目標 $6,000　·　相關 ETF：GDX · GLD · SLV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79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driver：實質利率下行預期確認；礦商股財務槓桿放大黃金上漲　·　對台灣機構意義：法人用 GLD/GDX 分散固收利率風險；礦商盈利改善提供主動選股機會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2026-08-07 · 國泰證券法人債券業務部 · 法人業務二處 · Friday topic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補充議題候選 · Top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補充視角、選 2 個搭配主議題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AI Robotics + 工業自動化 — 半導體外溢效應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核心：BOTZ rev+5.7 / ARKQ rev+3.5 / AIQ rev+4.5　·　相關 ETF：BOTZ · ARKQ · AIQ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driver：AI chip demand spillover 至機器人鍊；工業自動化是台灣製造轉型的美股映像　·　對台灣機構意義：工業自動化故事連結台廠；ETF 提供主題曝險卻規避個股選擇風險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小型股 &amp; 區域銀行疲弱 — 市場分化警示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核心：IWM rev-2.6 (-0.8%)；KRE rev-2.7 (-1.2%)　·　相關 ETF：IWM · KRE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driver：Fed hold 壓縮銀行利差；資金向大型科技集中；小型股財務壓力持續　·　對台灣機構意義：市場分化加劇；法人宜減少 small-cap 曝險，集中大型科技/能源主題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182880" cy="7772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新興市場溫和上揚 — 中國領漲、巴西拖累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核心：EEM +1.3% / FXI +1.8% / EWZ -0.6%；UUP -0.4%　·　相關 ETF：EEM · FXI · INDA · EWZ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driver：美元走弱帶動 EM 資金流入；巴西政治風險拖累；中國外資回流預期　·　對台灣機構意義：EM 債配置參考；FXI 領漲可能反映 A 股外資回流前置訊號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天然氣連續下殺 — 能源內部分化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核心：UNG -2.5% (rev-1.5)；YTD -15%　·　相關 ETF：UNG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driver：夏季需求峰值已過；LNG 出口受限；油價強 vs 天然氣弱的分化持續　·　對台灣機構意義：能源配置需區分油氣；天然氣下行提醒 LNG 供給鏈另行分析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投資等級債 / 高收益債 利差觀察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核心：LQD +0.4% (rev-0.8) / HYG +0.3% (rev-0.5) / TLT +0.7% (rev-1.5)　·　相關 ETF：LQD · HYG · TLT · AGG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driver：Fed hold 後債市小幅反彈，趨勢未確立；利差壓縮空間有限　·　對台灣機構意義：法人債券部核心配置決策；LQD/HYG spread 是整體風險情緒領先指標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2026-08-07 · 國泰證券法人債券業務部 · 法人業務二處 · Friday topic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半導體 &amp; AI 主題矩陣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Semiconductor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+3.1</a:t>
                      </a:r>
                    </a:p>
                  </a:txBody>
                  <a:tcPr>
                    <a:solidFill>
                      <a:srgbClr val="D0E3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+38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半導體核心工具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SOXX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Semiconductor 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+2.8</a:t>
                      </a:r>
                    </a:p>
                  </a:txBody>
                  <a:tcPr>
                    <a:solidFill>
                      <a:srgbClr val="D2E5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-2.5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+35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Broad semis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BOTZ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Global X AI &amp; Robotics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+3.5</a:t>
                      </a:r>
                    </a:p>
                  </a:txBody>
                  <a:tcPr>
                    <a:solidFill>
                      <a:srgbClr val="CCE0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+40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AI機器人鍊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AIQ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Global X Artificial Intel 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+2.5</a:t>
                      </a:r>
                    </a:p>
                  </a:txBody>
                  <a:tcPr>
                    <a:solidFill>
                      <a:srgbClr val="D4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-2.0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+33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AI整合主題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Expanded Tech SW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+1.8</a:t>
                      </a:r>
                    </a:p>
                  </a:txBody>
                  <a:tcPr>
                    <a:solidFill>
                      <a:srgbClr val="DAEB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+25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軟體/SaaS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ARKQ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 Autonomous &amp; Robotics 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+2.0</a:t>
                      </a:r>
                    </a:p>
                  </a:txBody>
                  <a:tcPr>
                    <a:solidFill>
                      <a:srgbClr val="D8E9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-1.5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+28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自動化/AI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2026-08-07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能源主題矩陣（Hormuz 週）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Energy Select SPDR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+3.8</a:t>
                      </a:r>
                    </a:p>
                  </a:txBody>
                  <a:tcPr>
                    <a:solidFill>
                      <a:srgbClr val="CADF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+28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能源大盤指數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XOP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Oil &amp; Gas E&amp;P 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+4.5</a:t>
                      </a:r>
                    </a:p>
                  </a:txBody>
                  <a:tcPr>
                    <a:solidFill>
                      <a:srgbClr val="C4DAC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+0.8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+32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勘採高β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Brent Oil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+4.2</a:t>
                      </a:r>
                    </a:p>
                  </a:txBody>
                  <a:tcPr>
                    <a:solidFill>
                      <a:srgbClr val="C7DC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+20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布倫特現貨曝險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USO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WTI Oil Fund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+3.5</a:t>
                      </a:r>
                    </a:p>
                  </a:txBody>
                  <a:tcPr>
                    <a:solidFill>
                      <a:srgbClr val="CCE0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+0.4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+18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WTI 現貨曝險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US Oil &amp; Gas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+3.3</a:t>
                      </a:r>
                    </a:p>
                  </a:txBody>
                  <a:tcPr>
                    <a:solidFill>
                      <a:srgbClr val="CEE2C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+25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中游勘採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AMLP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Alerian MLP 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+1.5</a:t>
                      </a:r>
                    </a:p>
                  </a:txBody>
                  <a:tcPr>
                    <a:solidFill>
                      <a:srgbClr val="DCEC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+0.8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+12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管線/MLP防禦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2026-08-07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Macro 事件 + A 級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本週主要 catalyst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📌 Macro 事件本週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7/29 FOMC: 持息 3.50–3.75%，3 票反對升息，CME 仍有 35.8% 升息機率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Hormuz 緊張: 伊朗草案提議禁止美以船隻過境 → Brent +4% to $83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TSMC Q2 Beat: 重奪 $2T 市值，Q3 revenue 指引 $44.6–45.8B (+12% QoQ)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S&amp;P 500 歷史新高 7,723; Dow 54,349; 85% EPS beat; 利潤 YoY +47%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全球半導體銷售: May 2026 $120.6B, YoY +104%（連 15 個月創新高）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黃金 $4,102 (+1.9% post-Fed hold)；JPMorgan 維持年底目標 $6,000/oz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📚 A 級 research（本週）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(本週無重要 A 級 research、或 yfinance scan 未觸發)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2026-08-07 · 國泰證券法人債券業務部 · 法人業務二處 · Friday topic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Monday 20260810 待決策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週一早上接續、預估 2-2.5 hr 全套完成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議題組合確認：1 主 + 2 補充（M1/M2/M3 選 1 主，S1-S5 選 2）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重抓 yfinance 含週五 close (5 trading days 完整週) + 驗核本表數字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saturation Round 1+ 加 Codex Gate 3 平行驗證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寫 reading_map.md + 底稿.md (UWS 12 章節)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build docx + lint_ryan_feedback 12 規則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Studio Path A + B + Codex Path C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663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Codex audit + persona pre-screen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7607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quality_report A++ 簽核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2026-08-07 · 國泰證券法人債券業務部 · 法人業務二處 · Friday topic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